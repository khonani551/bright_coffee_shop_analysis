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70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72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A180A8E-4668-486A-95D0-DBD6BDD7C4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CBB8E81-5147-5506-5F4B-DBC0E7AF26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6200" y="637890"/>
            <a:ext cx="0" cy="557241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852B95-CFB8-EEBE-3973-7363B3611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96332" y="768924"/>
            <a:ext cx="0" cy="480060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1A205B3-F30A-B2B0-2AFF-593443D3277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503863" y="1354138"/>
            <a:ext cx="5322887" cy="448151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831992"/>
            <a:ext cx="5897880" cy="4258956"/>
          </a:xfrm>
          <a:solidFill>
            <a:schemeClr val="bg2"/>
          </a:solidFill>
        </p:spPr>
        <p:txBody>
          <a:bodyPr lIns="182880" rIns="228600" bIns="91440" anchor="b">
            <a:normAutofit/>
          </a:bodyPr>
          <a:lstStyle>
            <a:lvl1pPr algn="r">
              <a:lnSpc>
                <a:spcPct val="80000"/>
              </a:lnSpc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5431" y="5372809"/>
            <a:ext cx="2364946" cy="909119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547529" y="612251"/>
            <a:ext cx="2070397" cy="518965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897326" y="5229935"/>
            <a:ext cx="1223795" cy="365125"/>
          </a:xfrm>
          <a:solidFill>
            <a:schemeClr val="bg2"/>
          </a:solidFill>
        </p:spPr>
        <p:txBody>
          <a:bodyPr rIns="182880"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400" y="6029866"/>
            <a:ext cx="461438" cy="365125"/>
          </a:xfrm>
          <a:solidFill>
            <a:schemeClr val="bg2"/>
          </a:solidFill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266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2986" y="265728"/>
            <a:ext cx="10981137" cy="1325563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986" y="1736176"/>
            <a:ext cx="10981137" cy="4198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808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895" y="1090397"/>
            <a:ext cx="0" cy="4396003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D120947-D69A-84F3-7617-0239E8E5C7F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791" y="1371600"/>
            <a:ext cx="670639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33850" y="685799"/>
            <a:ext cx="6373670" cy="2743201"/>
          </a:xfrm>
          <a:solidFill>
            <a:schemeClr val="bg2"/>
          </a:solidFill>
        </p:spPr>
        <p:txBody>
          <a:bodyPr vert="horz" lIns="182880" tIns="45720" rIns="91440" bIns="91440" rtlCol="0" anchor="b">
            <a:normAutofit/>
          </a:bodyPr>
          <a:lstStyle>
            <a:lvl1pPr>
              <a:lnSpc>
                <a:spcPct val="80000"/>
              </a:lnSpc>
              <a:defRPr lang="en-US" sz="68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00457" y="5570290"/>
            <a:ext cx="4114799" cy="69951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5FE83-3A40-27CC-D68D-E889297B8CA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45716" y="508084"/>
            <a:ext cx="429372" cy="365125"/>
          </a:xfrm>
          <a:noFill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663" y="508084"/>
            <a:ext cx="1203320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4603" y="612063"/>
            <a:ext cx="1487296" cy="478334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935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895" y="1033580"/>
            <a:ext cx="0" cy="480029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59" y="338328"/>
            <a:ext cx="8168640" cy="4462272"/>
          </a:xfrm>
          <a:noFill/>
        </p:spPr>
        <p:txBody>
          <a:bodyPr vert="horz" lIns="91440" tIns="45720" rIns="91440" bIns="137160" rtlCol="0" anchor="t">
            <a:normAutofit/>
          </a:bodyPr>
          <a:lstStyle>
            <a:lvl1pPr>
              <a:lnSpc>
                <a:spcPct val="80000"/>
              </a:lnSpc>
              <a:defRPr lang="en-US" sz="9600" spc="-100" baseline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34400" y="4754729"/>
            <a:ext cx="3084441" cy="1080302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spc="100" baseline="0" dirty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0" y="447579"/>
            <a:ext cx="2477899" cy="586001"/>
          </a:xfrm>
          <a:noFill/>
        </p:spPr>
        <p:txBody>
          <a:bodyPr/>
          <a:lstStyle>
            <a:lvl1pPr algn="r">
              <a:defRPr sz="1050"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375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D3069F5-8FDE-3652-E906-3619BF9A5D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B286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3E913D-4F8E-6F1A-DB89-A9E5CB7D2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297" y="6172185"/>
            <a:ext cx="10326757" cy="0"/>
          </a:xfrm>
          <a:prstGeom prst="line">
            <a:avLst/>
          </a:prstGeom>
          <a:ln w="12700">
            <a:solidFill>
              <a:schemeClr val="bg2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15478846-46FB-2BEE-98D6-C903223E25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" y="365760"/>
            <a:ext cx="11534790" cy="5525653"/>
          </a:xfrm>
          <a:noFill/>
        </p:spPr>
        <p:txBody>
          <a:bodyPr anchor="t">
            <a:normAutofit/>
          </a:bodyPr>
          <a:lstStyle>
            <a:lvl1pPr>
              <a:defRPr sz="11500" baseline="0">
                <a:ln>
                  <a:solidFill>
                    <a:schemeClr val="bg1"/>
                  </a:solidFill>
                </a:ln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8544F-8D58-BFED-5A2B-2F718BA6F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0139D-4890-4E0D-B3FD-098A02AB4A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CD1DB-3989-A34F-B5F7-DF66E018C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906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321906" y="685800"/>
            <a:ext cx="10184294" cy="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24403" y="2043904"/>
            <a:ext cx="7467597" cy="48140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406175" y="2720396"/>
            <a:ext cx="5645423" cy="2494309"/>
          </a:xfrm>
          <a:solidFill>
            <a:schemeClr val="bg2">
              <a:lumMod val="90000"/>
            </a:schemeClr>
          </a:solidFill>
        </p:spPr>
        <p:txBody>
          <a:bodyPr vert="horz" lIns="91440" tIns="45720" rIns="91440" bIns="137160" rtlCol="0" anchor="t">
            <a:normAutofit/>
          </a:bodyPr>
          <a:lstStyle>
            <a:lvl1pPr>
              <a:defRPr lang="en-US" sz="12000" dirty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Agenda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6410" y="569843"/>
            <a:ext cx="1470992" cy="541698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algn="l">
              <a:defRPr sz="1050"/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0198" y="2743202"/>
            <a:ext cx="6096001" cy="3467098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413627"/>
            <a:ext cx="1256738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413627"/>
            <a:ext cx="429372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04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71603" y="3415504"/>
            <a:ext cx="10820397" cy="34424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11506200" y="1113182"/>
            <a:ext cx="0" cy="170401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306" y="182880"/>
            <a:ext cx="7930892" cy="2238587"/>
          </a:xfrm>
          <a:noFill/>
        </p:spPr>
        <p:txBody>
          <a:bodyPr anchor="t">
            <a:normAutofit/>
          </a:bodyPr>
          <a:lstStyle>
            <a:lvl1pPr>
              <a:defRPr sz="12000" spc="-5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4946" y="3840480"/>
            <a:ext cx="6543924" cy="2536466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4611" y="612381"/>
            <a:ext cx="1484228" cy="479352"/>
          </a:xfrm>
          <a:noFill/>
        </p:spPr>
        <p:txBody>
          <a:bodyPr anchor="t"/>
          <a:lstStyle>
            <a:lvl1pPr algn="r">
              <a:defRPr sz="1050"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33512" y="2756699"/>
            <a:ext cx="1256738" cy="423823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0544" y="2756699"/>
            <a:ext cx="429372" cy="423823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1DA62460-475C-38E7-135D-916B98438D0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763000" y="3415504"/>
            <a:ext cx="3429000" cy="344249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21687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601" y="2057399"/>
            <a:ext cx="3429000" cy="1868557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0" y="2057401"/>
            <a:ext cx="4648200" cy="2743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234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1031915"/>
            <a:ext cx="3968496" cy="1494845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0020" y="1001865"/>
            <a:ext cx="6416180" cy="46833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7"/>
            <a:ext cx="1179576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107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31242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38400" y="0"/>
            <a:ext cx="7391400" cy="1207008"/>
          </a:xfrm>
        </p:spPr>
        <p:txBody>
          <a:bodyPr lIns="137160" tIns="137160" bIns="91440" anchor="b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3800" y="1367622"/>
            <a:ext cx="7929006" cy="44775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B460515-4779-2CA9-5335-1F4AD158B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10000" y="6210300"/>
            <a:ext cx="7696200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57601" y="6029868"/>
            <a:ext cx="202454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331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5486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3318" y="0"/>
            <a:ext cx="4385481" cy="1796124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5056" y="1965281"/>
            <a:ext cx="4859992" cy="37328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6243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99475"/>
            <a:ext cx="3625442" cy="1474692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2124222"/>
            <a:ext cx="3567404" cy="3488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00601" y="0"/>
            <a:ext cx="7391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150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30047"/>
            <a:ext cx="4939005" cy="116627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1746792"/>
            <a:ext cx="5776896" cy="3969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91400" y="0"/>
            <a:ext cx="48006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0973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8486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0456" y="0"/>
            <a:ext cx="4142830" cy="1978681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2196" y="2112973"/>
            <a:ext cx="3151090" cy="36782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912" y="6029868"/>
            <a:ext cx="1911096" cy="365125"/>
          </a:xfrm>
          <a:noFill/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51008" y="6029868"/>
            <a:ext cx="890077" cy="365125"/>
          </a:xfrm>
          <a:noFill/>
        </p:spPr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3696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EB1BA68-9980-8CBB-7BAF-A1D760EB21E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12192000" cy="6858000"/>
          </a:xfrm>
          <a:custGeom>
            <a:avLst/>
            <a:gdLst>
              <a:gd name="connsiteX0" fmla="*/ 480060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5562599 h 6858000"/>
              <a:gd name="connsiteX5" fmla="*/ 4800600 w 12192000"/>
              <a:gd name="connsiteY5" fmla="*/ 55625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480060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5562599"/>
                </a:lnTo>
                <a:lnTo>
                  <a:pt x="4800600" y="5562599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1001376"/>
            <a:ext cx="3601122" cy="1362458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504" y="2496848"/>
            <a:ext cx="3601122" cy="230375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3504" y="503237"/>
            <a:ext cx="1907799" cy="365125"/>
          </a:xfrm>
          <a:noFill/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504" y="4800600"/>
            <a:ext cx="1256738" cy="365125"/>
          </a:xfrm>
          <a:noFill/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47641" y="4800600"/>
            <a:ext cx="429372" cy="365125"/>
          </a:xfrm>
          <a:noFill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2552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673955"/>
            <a:ext cx="3154680" cy="1287913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1148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0" y="4647060"/>
            <a:ext cx="7552114" cy="1382807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noFill/>
        </p:spPr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7542" y="6029868"/>
            <a:ext cx="429372" cy="365125"/>
          </a:xfrm>
          <a:noFill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0898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5" y="337062"/>
            <a:ext cx="6787898" cy="845931"/>
          </a:xfrm>
        </p:spPr>
        <p:txBody>
          <a:bodyPr tIns="91440" bIns="91440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05468" y="637706"/>
            <a:ext cx="1907799" cy="365125"/>
          </a:xfrm>
        </p:spPr>
        <p:txBody>
          <a:bodyPr anchor="t"/>
          <a:lstStyle>
            <a:lvl1pPr algn="r">
              <a:defRPr/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371600"/>
            <a:ext cx="739140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6163" y="1266737"/>
            <a:ext cx="2894795" cy="47631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F397562-DA4B-EE6B-8F6C-1CE4F33EB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704" y="1028700"/>
            <a:ext cx="0" cy="480060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10190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800600" cy="482237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2085" y="4374100"/>
            <a:ext cx="3897905" cy="1380814"/>
          </a:xfrm>
        </p:spPr>
        <p:txBody>
          <a:bodyPr lIns="137160" tIns="137160"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516" y="685800"/>
            <a:ext cx="5430884" cy="52049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2974" y="6029867"/>
            <a:ext cx="1911096" cy="365126"/>
          </a:xfrm>
          <a:solidFill>
            <a:schemeClr val="bg1"/>
          </a:solidFill>
        </p:spPr>
        <p:txBody>
          <a:bodyPr anchor="ctr"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solidFill>
            <a:schemeClr val="bg1"/>
          </a:solidFill>
        </p:spPr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5420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424EAB6-808C-672B-68A5-49764748C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599" y="5149121"/>
            <a:ext cx="6861107" cy="842527"/>
          </a:xfrm>
          <a:noFill/>
        </p:spPr>
        <p:txBody>
          <a:bodyPr anchor="t"/>
          <a:lstStyle>
            <a:lvl1pPr algn="r">
              <a:defRPr b="0" cap="all" baseline="0">
                <a:solidFill>
                  <a:schemeClr val="accent1"/>
                </a:solidFill>
                <a:effectLst/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4196" y="120765"/>
            <a:ext cx="10723000" cy="4260404"/>
          </a:xfrm>
        </p:spPr>
        <p:txBody>
          <a:bodyPr lIns="0" tIns="0" rIns="0" bIns="0" anchor="b">
            <a:normAutofit/>
          </a:bodyPr>
          <a:lstStyle>
            <a:lvl1pPr marL="0" indent="0">
              <a:buNone/>
              <a:defRPr sz="28000" spc="-200" baseline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1" y="6029867"/>
            <a:ext cx="2137769" cy="365125"/>
          </a:xfrm>
          <a:noFill/>
        </p:spPr>
        <p:txBody>
          <a:bodyPr/>
          <a:lstStyle>
            <a:lvl1pPr>
              <a:defRPr b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38393CD-94B6-EC8A-E14F-A09689A25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3594" y="675861"/>
            <a:ext cx="0" cy="4184295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93339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65FCAFD-B73A-5597-B603-55FD5D3AA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431" y="-785191"/>
            <a:ext cx="10981137" cy="640080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7930" y="1649896"/>
            <a:ext cx="10169921" cy="4949687"/>
          </a:xfrm>
        </p:spPr>
        <p:txBody>
          <a:bodyPr anchor="b">
            <a:norm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200" cap="all" spc="-100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2pPr>
            <a:lvl3pPr marL="9144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3pPr>
            <a:lvl4pPr marL="13716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4pPr>
            <a:lvl5pPr marL="18288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C1887E-643E-BB68-F557-E1EAB0A0A6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297" y="685800"/>
            <a:ext cx="10326757" cy="0"/>
          </a:xfrm>
          <a:prstGeom prst="line">
            <a:avLst/>
          </a:prstGeom>
          <a:ln w="12700">
            <a:solidFill>
              <a:schemeClr val="bg1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1" y="501227"/>
            <a:ext cx="1907799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 b="0" spc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501227"/>
            <a:ext cx="1256738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501227"/>
            <a:ext cx="429372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7537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052C017-FC5C-A7A2-BA15-6C113717C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8D5F78-0179-D9C3-74D3-62CE152FF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8763000" cy="50383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BB386FE-4A21-B72A-BB2B-D4FDFDC3EC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accent5">
                <a:alpha val="4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D4813FB1-9165-4DD7-C4C2-EAFC20602D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5410203"/>
            <a:ext cx="7543800" cy="372746"/>
          </a:xfrm>
          <a:noFill/>
        </p:spPr>
        <p:txBody>
          <a:bodyPr tIns="91440" bIns="91440" anchor="ctr">
            <a:normAutofit/>
          </a:bodyPr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3504" y="725556"/>
            <a:ext cx="8845296" cy="3656168"/>
          </a:xfrm>
        </p:spPr>
        <p:txBody>
          <a:bodyPr>
            <a:normAutofit/>
          </a:bodyPr>
          <a:lstStyle>
            <a:lvl1pPr marL="228600" indent="-228600">
              <a:lnSpc>
                <a:spcPct val="85000"/>
              </a:lnSpc>
              <a:spcBef>
                <a:spcPts val="0"/>
              </a:spcBef>
              <a:buNone/>
              <a:defRPr sz="5800" b="0" cap="all" spc="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4F49A81-8721-B846-5567-52769C04D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8"/>
            <a:ext cx="1911096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B3E54B7-FFB1-7BFC-0189-A17360728C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802368" y="6029868"/>
            <a:ext cx="1435608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1DF2706-0EDF-0D3B-C01B-613E7D1BB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0000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50773-1259-8F51-3561-DF3A80B26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185"/>
            <a:ext cx="10902696" cy="1070849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966CF-BE4B-28C8-6D17-E087E97C0E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5431" y="1756230"/>
            <a:ext cx="5181600" cy="40349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559437-5037-4EE7-88FA-80C5AA0870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4600" y="1756230"/>
            <a:ext cx="5181600" cy="40349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326746-DF44-9DEF-8471-A5E1F6CCC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850B58-64D5-F359-1AC8-3D57AA87B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6A22FA-48E7-5BF5-6432-6C7A54D7E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2813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D8D87-72DE-A210-5C2D-570A1B01D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206"/>
            <a:ext cx="10899648" cy="1069848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932A9-21A4-5A57-9D72-8C46993E6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31" y="1631076"/>
            <a:ext cx="5157787" cy="70939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83D4B4-A366-E12D-19BB-C17B71466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5431" y="2372146"/>
            <a:ext cx="5157787" cy="34952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06DAAF-1A05-D83C-70C1-CEADA4EB73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4600" y="1631076"/>
            <a:ext cx="5183188" cy="70939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FE7B13-3453-6313-B416-E9FF9DA2E0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4600" y="2372146"/>
            <a:ext cx="5183188" cy="34952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61BE2D-E1A3-1A5C-AE37-9DC52A971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D5902D-DF04-F2A8-C2F8-EBDD2A897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4FDDA8-940A-B407-4EB2-85DC9BEDB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04907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151FC-CD6F-656F-54A8-59B782BEF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265176"/>
            <a:ext cx="11028923" cy="1325880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7D307A-FF1F-38A3-7DE5-F11DC31CA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4C539B-20CB-8D83-0ECC-5F682BD06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6EB674-912E-381A-49CE-08E49DFF4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18224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FA0B77-3CB1-4071-30F6-B0766D75C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4A81A7-FC7B-1689-D59F-4173A1763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080D98-2C9A-3434-E8A3-DA6CCD2F5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3322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22766A-BE9C-B780-CC66-44ECFC5C0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57400" y="3084659"/>
            <a:ext cx="10133956" cy="3773341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6" y="182881"/>
            <a:ext cx="8616684" cy="1874520"/>
          </a:xfrm>
          <a:noFill/>
        </p:spPr>
        <p:txBody>
          <a:bodyPr anchor="t">
            <a:normAutofit/>
          </a:bodyPr>
          <a:lstStyle>
            <a:lvl1pPr>
              <a:defRPr sz="9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53600" y="617923"/>
            <a:ext cx="1866897" cy="461881"/>
          </a:xfrm>
          <a:noFill/>
        </p:spPr>
        <p:txBody>
          <a:bodyPr anchor="t"/>
          <a:lstStyle>
            <a:lvl1pPr algn="r">
              <a:defRPr sz="900"/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5846" y="3544866"/>
            <a:ext cx="8990722" cy="2446782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95846" y="6024816"/>
            <a:ext cx="1809495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bg2"/>
          </a:solidFill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05758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2AC4BE-2FD3-AAF4-8A1B-0633F1BEE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436077" cy="2057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652D305-42E1-E86E-632C-9DFD4F747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5800" y="4564627"/>
            <a:ext cx="5068016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625" y="530940"/>
            <a:ext cx="7703576" cy="1308290"/>
          </a:xfrm>
          <a:noFill/>
        </p:spPr>
        <p:txBody>
          <a:bodyPr anchor="t">
            <a:normAutofit/>
          </a:bodyPr>
          <a:lstStyle>
            <a:lvl1pPr>
              <a:defRPr sz="80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7005" y="3571531"/>
            <a:ext cx="5009534" cy="1987694"/>
          </a:xfrm>
        </p:spPr>
        <p:txBody>
          <a:bodyPr anchor="ctr"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7"/>
            <a:ext cx="1911096" cy="365126"/>
          </a:xfrm>
          <a:noFill/>
        </p:spPr>
        <p:txBody>
          <a:bodyPr anchor="ctr"/>
          <a:lstStyle>
            <a:lvl1pPr algn="l">
              <a:defRPr sz="900" b="1"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99320" y="6029867"/>
            <a:ext cx="1441766" cy="365125"/>
          </a:xfrm>
          <a:noFill/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5437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BAF5C3-82B6-427E-5D2E-900A2D90A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1AA792-727F-F91C-6564-A882FAF11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351270"/>
            <a:ext cx="10981137" cy="123972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13716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90A246-77A4-EC4C-28B8-90388BB8E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31" y="1745956"/>
            <a:ext cx="10981137" cy="3983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F6714-5B6F-439F-4173-D518237123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430" y="6029868"/>
            <a:ext cx="191109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l">
              <a:defRPr sz="900" b="1" cap="all" spc="6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842E6-B4ED-431B-B1A0-22352BA62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0" y="6029868"/>
            <a:ext cx="118268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743A1-0EE5-84FA-44EE-3CDDB793AA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3434" y="6029868"/>
            <a:ext cx="429372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147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xStyles>
    <p:titleStyle>
      <a:lvl1pPr marL="0" algn="l" defTabSz="914400" rtl="0" eaLnBrk="1" latinLnBrk="0" hangingPunct="1">
        <a:lnSpc>
          <a:spcPct val="100000"/>
        </a:lnSpc>
        <a:spcBef>
          <a:spcPct val="0"/>
        </a:spcBef>
        <a:spcAft>
          <a:spcPts val="0"/>
        </a:spcAft>
        <a:buNone/>
        <a:defRPr sz="2800" kern="1200" cap="all" baseline="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864">
          <p15:clr>
            <a:srgbClr val="F26B43"/>
          </p15:clr>
        </p15:guide>
        <p15:guide id="3" pos="432">
          <p15:clr>
            <a:srgbClr val="F26B43"/>
          </p15:clr>
        </p15:guide>
        <p15:guide id="4" orient="horz" pos="3912">
          <p15:clr>
            <a:srgbClr val="F26B43"/>
          </p15:clr>
        </p15:guide>
        <p15:guide id="5" orient="horz" pos="3504">
          <p15:clr>
            <a:srgbClr val="F26B43"/>
          </p15:clr>
        </p15:guide>
        <p15:guide id="6" orient="horz" pos="3024">
          <p15:clr>
            <a:srgbClr val="F26B43"/>
          </p15:clr>
        </p15:guide>
        <p15:guide id="7" orient="horz" pos="2592">
          <p15:clr>
            <a:srgbClr val="F26B43"/>
          </p15:clr>
        </p15:guide>
        <p15:guide id="8" orient="horz" pos="1728">
          <p15:clr>
            <a:srgbClr val="F26B43"/>
          </p15:clr>
        </p15:guide>
        <p15:guide id="9" orient="horz" pos="1296">
          <p15:clr>
            <a:srgbClr val="F26B43"/>
          </p15:clr>
        </p15:guide>
        <p15:guide id="10" orient="horz" pos="864">
          <p15:clr>
            <a:srgbClr val="F26B43"/>
          </p15:clr>
        </p15:guide>
        <p15:guide id="11" orient="horz" pos="432">
          <p15:clr>
            <a:srgbClr val="F26B43"/>
          </p15:clr>
        </p15:guide>
        <p15:guide id="12" pos="1296">
          <p15:clr>
            <a:srgbClr val="F26B43"/>
          </p15:clr>
        </p15:guide>
        <p15:guide id="13" pos="1728">
          <p15:clr>
            <a:srgbClr val="F26B43"/>
          </p15:clr>
        </p15:guide>
        <p15:guide id="18" pos="2160">
          <p15:clr>
            <a:srgbClr val="F26B43"/>
          </p15:clr>
        </p15:guide>
        <p15:guide id="20" pos="5520">
          <p15:clr>
            <a:srgbClr val="F26B43"/>
          </p15:clr>
        </p15:guide>
        <p15:guide id="21" pos="5952">
          <p15:clr>
            <a:srgbClr val="F26B43"/>
          </p15:clr>
        </p15:guide>
        <p15:guide id="22" pos="6384">
          <p15:clr>
            <a:srgbClr val="F26B43"/>
          </p15:clr>
        </p15:guide>
        <p15:guide id="24" pos="6816">
          <p15:clr>
            <a:srgbClr val="F26B43"/>
          </p15:clr>
        </p15:guide>
        <p15:guide id="25" pos="7248">
          <p15:clr>
            <a:srgbClr val="F26B43"/>
          </p15:clr>
        </p15:guide>
        <p15:guide id="26" pos="5088">
          <p15:clr>
            <a:srgbClr val="F26B43"/>
          </p15:clr>
        </p15:guide>
        <p15:guide id="27" pos="4656">
          <p15:clr>
            <a:srgbClr val="F26B43"/>
          </p15:clr>
        </p15:guide>
        <p15:guide id="28" pos="4224">
          <p15:clr>
            <a:srgbClr val="F26B43"/>
          </p15:clr>
        </p15:guide>
        <p15:guide id="29" pos="2592">
          <p15:clr>
            <a:srgbClr val="F26B43"/>
          </p15:clr>
        </p15:guide>
        <p15:guide id="30" pos="3024">
          <p15:clr>
            <a:srgbClr val="F26B43"/>
          </p15:clr>
        </p15:guide>
        <p15:guide id="31" pos="3456">
          <p15:clr>
            <a:srgbClr val="F26B43"/>
          </p15:clr>
        </p15:guide>
        <p15:guide id="32" orient="horz" pos="648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7.png"/><Relationship Id="rId3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01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685800"/>
            <a:ext cx="6400800" cy="5394960"/>
          </a:xfrm>
          <a:prstGeom prst="roundRect">
            <a:avLst/>
          </a:prstGeom>
          <a:solidFill>
            <a:srgbClr val="F7E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68680" y="1051560"/>
            <a:ext cx="109728" cy="4389120"/>
          </a:xfrm>
          <a:prstGeom prst="rect">
            <a:avLst/>
          </a:prstGeom>
          <a:solidFill>
            <a:srgbClr val="995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3000" y="1325880"/>
            <a:ext cx="52120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482719"/>
                </a:solidFill>
                <a:latin typeface="Aptos Display"/>
              </a:defRPr>
            </a:pPr>
            <a:r>
              <a:t>BRIGHT COFFEE SHOP</a:t>
            </a:r>
          </a:p>
          <a:p>
            <a:pPr>
              <a:defRPr sz="4400" b="1">
                <a:solidFill>
                  <a:srgbClr val="7A482A"/>
                </a:solidFill>
                <a:latin typeface="Aptos Display"/>
              </a:defRPr>
            </a:pPr>
            <a:r>
              <a:t>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3154680"/>
            <a:ext cx="5029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5C3420"/>
                </a:solidFill>
                <a:latin typeface="Aptos"/>
              </a:defRPr>
            </a:pPr>
            <a:r>
              <a:t>Data &amp; Business Analytics</a:t>
            </a:r>
          </a:p>
          <a:p>
            <a:pPr>
              <a:defRPr sz="1600">
                <a:solidFill>
                  <a:srgbClr val="785E4B"/>
                </a:solidFill>
                <a:latin typeface="Aptos"/>
              </a:defRPr>
            </a:pPr>
            <a:r>
              <a:t>CEO Executive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4983480"/>
            <a:ext cx="4937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876952"/>
                </a:solidFill>
                <a:latin typeface="Aptos"/>
              </a:defRPr>
            </a:pPr>
            <a:r>
              <a:t>Turning coffee sales data into decisions, growth and action</a:t>
            </a:r>
          </a:p>
        </p:txBody>
      </p:sp>
      <p:pic>
        <p:nvPicPr>
          <p:cNvPr id="7" name="Picture 6" descr="bright_coffee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234440"/>
            <a:ext cx="4663440" cy="3627120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10881360" y="5303520"/>
            <a:ext cx="164592" cy="164592"/>
          </a:xfrm>
          <a:prstGeom prst="ellipse">
            <a:avLst/>
          </a:prstGeom>
          <a:solidFill>
            <a:srgbClr val="B7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201400" y="4892040"/>
            <a:ext cx="109728" cy="109728"/>
          </a:xfrm>
          <a:prstGeom prst="ellipse">
            <a:avLst/>
          </a:prstGeom>
          <a:solidFill>
            <a:srgbClr val="B7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561320" y="5623560"/>
            <a:ext cx="91440" cy="91440"/>
          </a:xfrm>
          <a:prstGeom prst="ellipse">
            <a:avLst/>
          </a:prstGeom>
          <a:solidFill>
            <a:srgbClr val="B7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79552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Executive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429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C3D7EB"/>
                </a:solidFill>
                <a:latin typeface="Aptos"/>
              </a:defRPr>
            </a:pPr>
            <a:r>
              <a:t>CEO 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868680"/>
            <a:ext cx="2423160" cy="1097280"/>
          </a:xfrm>
          <a:prstGeom prst="roundRect">
            <a:avLst/>
          </a:prstGeom>
          <a:solidFill>
            <a:srgbClr val="F4F7FA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868680"/>
            <a:ext cx="64008" cy="1097280"/>
          </a:xfrm>
          <a:prstGeom prst="rect">
            <a:avLst/>
          </a:prstGeom>
          <a:solidFill>
            <a:srgbClr val="2C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088" y="1033271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5B6774"/>
                </a:solidFill>
                <a:latin typeface="Aptos"/>
              </a:defRPr>
            </a:pPr>
            <a:r>
              <a:t>TOTAL SALES 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344168"/>
            <a:ext cx="2103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4345B"/>
                </a:solidFill>
                <a:latin typeface="Aptos"/>
              </a:defRPr>
            </a:pPr>
            <a:r>
              <a:rPr lang="en-ZA" dirty="0"/>
              <a:t>R698.812</a:t>
            </a:r>
            <a:r>
              <a:rPr dirty="0"/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63240" y="868680"/>
            <a:ext cx="2423160" cy="1097280"/>
          </a:xfrm>
          <a:prstGeom prst="roundRect">
            <a:avLst/>
          </a:prstGeom>
          <a:solidFill>
            <a:srgbClr val="F4F7FA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063240" y="868680"/>
            <a:ext cx="64008" cy="1097280"/>
          </a:xfrm>
          <a:prstGeom prst="rect">
            <a:avLst/>
          </a:prstGeom>
          <a:solidFill>
            <a:srgbClr val="1E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64408" y="1033271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5B6774"/>
                </a:solidFill>
                <a:latin typeface="Aptos"/>
              </a:defRPr>
            </a:pPr>
            <a:r>
              <a:t>UNITS SOLD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64408" y="134416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4345B"/>
                </a:solidFill>
                <a:latin typeface="Aptos"/>
              </a:defRPr>
            </a:pPr>
            <a:r>
              <a:t>214,470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23560" y="868680"/>
            <a:ext cx="2423160" cy="1097280"/>
          </a:xfrm>
          <a:prstGeom prst="roundRect">
            <a:avLst/>
          </a:prstGeom>
          <a:solidFill>
            <a:srgbClr val="F4F7FA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623560" y="868680"/>
            <a:ext cx="64008" cy="1097280"/>
          </a:xfrm>
          <a:prstGeom prst="rect">
            <a:avLst/>
          </a:prstGeom>
          <a:solidFill>
            <a:srgbClr val="E0A3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24728" y="1033271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5B6774"/>
                </a:solidFill>
                <a:latin typeface="Aptos"/>
              </a:defRPr>
            </a:pPr>
            <a:r>
              <a:t>SALES TRANSACTIONS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24728" y="134416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4345B"/>
                </a:solidFill>
                <a:latin typeface="Aptos"/>
              </a:defRPr>
            </a:pPr>
            <a:r>
              <a:t>149,116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868680"/>
            <a:ext cx="2423160" cy="1097280"/>
          </a:xfrm>
          <a:prstGeom prst="roundRect">
            <a:avLst/>
          </a:prstGeom>
          <a:solidFill>
            <a:srgbClr val="F4F7FA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83879" y="868680"/>
            <a:ext cx="64008" cy="1097280"/>
          </a:xfrm>
          <a:prstGeom prst="rect">
            <a:avLst/>
          </a:prstGeom>
          <a:solidFill>
            <a:srgbClr val="E85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85048" y="1033271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5B6774"/>
                </a:solidFill>
                <a:latin typeface="Aptos"/>
              </a:defRPr>
            </a:pPr>
            <a:r>
              <a:t>STORE LOCATIONS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8" y="134416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4345B"/>
                </a:solidFill>
                <a:latin typeface="Aptos"/>
              </a:defRPr>
            </a:pPr>
            <a:r>
              <a:t>3</a:t>
            </a:r>
          </a:p>
        </p:txBody>
      </p:sp>
      <p:pic>
        <p:nvPicPr>
          <p:cNvPr id="22" name="Picture 21" descr="month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48840"/>
            <a:ext cx="5532120" cy="2512906"/>
          </a:xfrm>
          <a:prstGeom prst="rect">
            <a:avLst/>
          </a:prstGeom>
        </p:spPr>
      </p:pic>
      <p:pic>
        <p:nvPicPr>
          <p:cNvPr id="23" name="Picture 22" descr="st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148840"/>
            <a:ext cx="5349240" cy="280198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40080" y="5715000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4345B"/>
                </a:solidFill>
                <a:latin typeface="Aptos"/>
              </a:defRPr>
            </a:pPr>
            <a:r>
              <a:rPr dirty="0"/>
              <a:t>Headline: Revenue increased from R81.678 in January to R166.486 in June (+103.8%), while performance remained relatively balanced across the three stores.</a:t>
            </a:r>
            <a:r>
              <a:rPr lang="en-ZA" dirty="0"/>
              <a:t/>
            </a:r>
            <a:r>
              <a:rPr dirty="0"/>
              <a:t/>
            </a:r>
            <a:r>
              <a:rPr lang="en-ZA" dirty="0"/>
              <a:t/>
            </a:r>
            <a:r>
              <a:rPr dirty="0"/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79552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Data &amp; Analytics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429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C3D7EB"/>
                </a:solidFill>
                <a:latin typeface="Aptos"/>
              </a:defRPr>
            </a:pPr>
            <a:r>
              <a:t>END-TO-END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6002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14984" y="1993392"/>
            <a:ext cx="576072" cy="576072"/>
          </a:xfrm>
          <a:prstGeom prst="ellipse">
            <a:avLst/>
          </a:prstGeom>
          <a:solidFill>
            <a:srgbClr val="2C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14984" y="2103120"/>
            <a:ext cx="5760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97480"/>
            <a:ext cx="1325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45B"/>
                </a:solidFill>
                <a:latin typeface="Aptos"/>
              </a:defRPr>
            </a:pPr>
            <a:r>
              <a:t>DATA COLLECTION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46120"/>
            <a:ext cx="1325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5B6774"/>
                </a:solidFill>
                <a:latin typeface="Aptos"/>
              </a:defRPr>
            </a:pPr>
            <a:r>
              <a:t>POS transactions captured at source.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21408" y="26517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5B677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68880" y="1828800"/>
            <a:ext cx="16002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980944" y="1993392"/>
            <a:ext cx="576072" cy="576072"/>
          </a:xfrm>
          <a:prstGeom prst="ellipse">
            <a:avLst/>
          </a:prstGeom>
          <a:solidFill>
            <a:srgbClr val="2CA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80944" y="2103120"/>
            <a:ext cx="5760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2697480"/>
            <a:ext cx="1325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45B"/>
                </a:solidFill>
                <a:latin typeface="Aptos"/>
              </a:defRPr>
            </a:pPr>
            <a:r>
              <a:t>DATA INGESTION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3246120"/>
            <a:ext cx="1325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5B6774"/>
                </a:solidFill>
                <a:latin typeface="Aptos"/>
              </a:defRPr>
            </a:pPr>
            <a:r>
              <a:t>ETL moves data into the analytics environment.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87368" y="26517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5B677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1828800"/>
            <a:ext cx="16002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946904" y="1993392"/>
            <a:ext cx="576072" cy="576072"/>
          </a:xfrm>
          <a:prstGeom prst="ellipse">
            <a:avLst/>
          </a:prstGeom>
          <a:solidFill>
            <a:srgbClr val="674C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46904" y="2103120"/>
            <a:ext cx="5760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697480"/>
            <a:ext cx="1325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45B"/>
                </a:solidFill>
                <a:latin typeface="Aptos"/>
              </a:defRPr>
            </a:pPr>
            <a:r>
              <a:t>DATABRICKS SQL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246120"/>
            <a:ext cx="1325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5B6774"/>
                </a:solidFill>
                <a:latin typeface="Aptos"/>
              </a:defRPr>
            </a:pPr>
            <a:r>
              <a:t>Technical inspection, cleaning and transformation.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53327" y="26517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5B677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1828800"/>
            <a:ext cx="16002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912864" y="1993392"/>
            <a:ext cx="576072" cy="576072"/>
          </a:xfrm>
          <a:prstGeom prst="ellipse">
            <a:avLst/>
          </a:prstGeom>
          <a:solidFill>
            <a:srgbClr val="E85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912864" y="2103120"/>
            <a:ext cx="5760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2697480"/>
            <a:ext cx="1325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45B"/>
                </a:solidFill>
                <a:latin typeface="Aptos"/>
              </a:defRPr>
            </a:pPr>
            <a:r>
              <a:t>ANALYSIS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3246120"/>
            <a:ext cx="1325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5B6774"/>
                </a:solidFill>
                <a:latin typeface="Aptos"/>
              </a:defRPr>
            </a:pPr>
            <a:r>
              <a:t>Excel / analytical work turns data into insights.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19288" y="26517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5B677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66760" y="1828800"/>
            <a:ext cx="16002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878824" y="1993392"/>
            <a:ext cx="576072" cy="576072"/>
          </a:xfrm>
          <a:prstGeom prst="ellipse">
            <a:avLst/>
          </a:prstGeom>
          <a:solidFill>
            <a:srgbClr val="E0A3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878824" y="2103120"/>
            <a:ext cx="5760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2697480"/>
            <a:ext cx="1325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45B"/>
                </a:solidFill>
                <a:latin typeface="Aptos"/>
              </a:defRPr>
            </a:pPr>
            <a:r>
              <a:t>PRESENTATION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3246120"/>
            <a:ext cx="1325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5B6774"/>
                </a:solidFill>
                <a:latin typeface="Aptos"/>
              </a:defRPr>
            </a:pPr>
            <a:r>
              <a:t>PowerPoint / BI communicates the story.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85248" y="26517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5B677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332720" y="1828800"/>
            <a:ext cx="16002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0844784" y="1993392"/>
            <a:ext cx="576072" cy="576072"/>
          </a:xfrm>
          <a:prstGeom prst="ellipse">
            <a:avLst/>
          </a:prstGeom>
          <a:solidFill>
            <a:srgbClr val="2C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844784" y="2103120"/>
            <a:ext cx="5760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69880" y="2697480"/>
            <a:ext cx="1325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45B"/>
                </a:solidFill>
                <a:latin typeface="Aptos"/>
              </a:defRPr>
            </a:pPr>
            <a:r>
              <a:t>MONITORING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69880" y="3246120"/>
            <a:ext cx="1325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5B6774"/>
                </a:solidFill>
                <a:latin typeface="Aptos"/>
              </a:defRPr>
            </a:pPr>
            <a:r>
              <a:t>Dashboards support continuous performance tracking.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5800" y="4572000"/>
            <a:ext cx="5349240" cy="1417320"/>
          </a:xfrm>
          <a:prstGeom prst="roundRect">
            <a:avLst/>
          </a:prstGeom>
          <a:solidFill>
            <a:srgbClr val="F9FBFD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14400" y="473659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345B"/>
                </a:solidFill>
                <a:latin typeface="Aptos"/>
              </a:defRPr>
            </a:pPr>
            <a:r>
              <a:t>Technical data inspection in Databricks SQL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5138928"/>
            <a:ext cx="4892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232B34"/>
                </a:solidFill>
                <a:latin typeface="Aptos"/>
              </a:defRPr>
            </a:pPr>
            <a:r>
              <a:t>• Validated field structure, data types and completeness before analysis.</a:t>
            </a:r>
          </a:p>
          <a:p>
            <a:pPr>
              <a:spcAft>
                <a:spcPts val="800"/>
              </a:spcAft>
              <a:defRPr sz="1100">
                <a:solidFill>
                  <a:srgbClr val="232B34"/>
                </a:solidFill>
                <a:latin typeface="Aptos"/>
              </a:defRPr>
            </a:pPr>
            <a:r>
              <a:t>• Used SQL to filter, aggregate and transform transaction-level data.</a:t>
            </a:r>
          </a:p>
          <a:p>
            <a:pPr>
              <a:spcAft>
                <a:spcPts val="800"/>
              </a:spcAft>
              <a:defRPr sz="1100">
                <a:solidFill>
                  <a:srgbClr val="232B34"/>
                </a:solidFill>
                <a:latin typeface="Aptos"/>
              </a:defRPr>
            </a:pPr>
            <a:r>
              <a:t>• Created analysis-ready datasets for downstream reporting.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63640" y="4572000"/>
            <a:ext cx="5257800" cy="1417320"/>
          </a:xfrm>
          <a:prstGeom prst="roundRect">
            <a:avLst/>
          </a:prstGeom>
          <a:solidFill>
            <a:srgbClr val="F9FBFD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92240" y="4736592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345B"/>
                </a:solidFill>
                <a:latin typeface="Aptos"/>
              </a:defRPr>
            </a:pPr>
            <a:r>
              <a:t>Business analyst contribution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2240" y="5138928"/>
            <a:ext cx="4800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232B34"/>
                </a:solidFill>
                <a:latin typeface="Aptos"/>
              </a:defRPr>
            </a:pPr>
            <a:r>
              <a:t>• Translated raw transaction data into business questions and KPIs.</a:t>
            </a:r>
          </a:p>
          <a:p>
            <a:pPr>
              <a:spcAft>
                <a:spcPts val="800"/>
              </a:spcAft>
              <a:defRPr sz="1100">
                <a:solidFill>
                  <a:srgbClr val="232B34"/>
                </a:solidFill>
                <a:latin typeface="Aptos"/>
              </a:defRPr>
            </a:pPr>
            <a:r>
              <a:t>• Identified revenue, product, store and time-of-day patterns.</a:t>
            </a:r>
          </a:p>
          <a:p>
            <a:pPr>
              <a:spcAft>
                <a:spcPts val="800"/>
              </a:spcAft>
              <a:defRPr sz="1100">
                <a:solidFill>
                  <a:srgbClr val="232B34"/>
                </a:solidFill>
                <a:latin typeface="Aptos"/>
              </a:defRPr>
            </a:pPr>
            <a:r>
              <a:t>• Converted findings into an executive-ready story and dashboard.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79552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Revenue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429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C3D7EB"/>
                </a:solidFill>
                <a:latin typeface="Aptos"/>
              </a:defRPr>
            </a:pPr>
            <a:r>
              <a:t>TREND ANALYSIS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79" y="1234440"/>
            <a:ext cx="3429000" cy="4480560"/>
          </a:xfrm>
          <a:prstGeom prst="roundRect">
            <a:avLst/>
          </a:prstGeom>
          <a:solidFill>
            <a:srgbClr val="F9FBFD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0" y="139903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345B"/>
                </a:solidFill>
                <a:latin typeface="Aptos"/>
              </a:defRPr>
            </a:pPr>
            <a:r>
              <a:t>Executive interpretation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1801368"/>
            <a:ext cx="297180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232B34"/>
                </a:solidFill>
                <a:latin typeface="Aptos"/>
              </a:defRPr>
            </a:pPr>
            <a:r>
              <a:t>• June delivered the highest monthly revenue at R166.486.</a:t>
            </a:r>
          </a:p>
          <a:p>
            <a:pPr>
              <a:spcAft>
                <a:spcPts val="800"/>
              </a:spcAft>
              <a:defRPr sz="1100">
                <a:solidFill>
                  <a:srgbClr val="232B34"/>
                </a:solidFill>
                <a:latin typeface="Aptos"/>
              </a:defRPr>
            </a:pPr>
            <a:r>
              <a:t>• Revenue grew 103.8% from January to June.</a:t>
            </a:r>
          </a:p>
          <a:p>
            <a:pPr>
              <a:spcAft>
                <a:spcPts val="800"/>
              </a:spcAft>
              <a:defRPr sz="1100">
                <a:solidFill>
                  <a:srgbClr val="232B34"/>
                </a:solidFill>
                <a:latin typeface="Aptos"/>
              </a:defRPr>
            </a:pPr>
            <a:r>
              <a:t>• The strongest acceleration occurred from April through June.</a:t>
            </a:r>
          </a:p>
          <a:p>
            <a:pPr>
              <a:spcAft>
                <a:spcPts val="800"/>
              </a:spcAft>
              <a:defRPr sz="1100">
                <a:solidFill>
                  <a:srgbClr val="232B34"/>
                </a:solidFill>
                <a:latin typeface="Aptos"/>
              </a:defRPr>
            </a:pPr>
            <a:r>
              <a:t>• The pattern indicates positive sales momentum across the period.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715000"/>
            <a:ext cx="7223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4345B"/>
                </a:solidFill>
                <a:latin typeface="Aptos"/>
              </a:defRPr>
            </a:pPr>
            <a:r>
              <a:t>Management focus: understand the drivers behind the May–June acceleration and determine which can be sustained.</a:t>
            </a:r>
          </a:p>
        </p:txBody>
      </p:sp>
      <p:pic>
        <p:nvPicPr>
          <p:cNvPr id="11" name="Picture 10" descr="monthly_revenue_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51560"/>
            <a:ext cx="7498079" cy="340592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79552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Where Revenue Is Generated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429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C3D7EB"/>
                </a:solidFill>
                <a:latin typeface="Aptos"/>
              </a:defRPr>
            </a:pPr>
            <a:r>
              <a:t>STORE &amp; DAY PERFORMANCE</a:t>
            </a:r>
          </a:p>
        </p:txBody>
      </p:sp>
      <p:pic>
        <p:nvPicPr>
          <p:cNvPr id="6" name="Picture 5" descr="st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97280"/>
            <a:ext cx="5486400" cy="2873829"/>
          </a:xfrm>
          <a:prstGeom prst="rect">
            <a:avLst/>
          </a:prstGeom>
        </p:spPr>
      </p:pic>
      <p:pic>
        <p:nvPicPr>
          <p:cNvPr id="7" name="Picture 6" descr="d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097280"/>
            <a:ext cx="5394960" cy="266883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5532120"/>
            <a:ext cx="5257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14345B"/>
                </a:solidFill>
                <a:latin typeface="Aptos"/>
              </a:defRPr>
            </a:pPr>
            <a:r>
              <a:t>Store insight: Hell's Kitchen leads at R236.511, but the spread between the three locations is only about R6.454.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5532120"/>
            <a:ext cx="5074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14345B"/>
                </a:solidFill>
                <a:latin typeface="Aptos"/>
              </a:defRPr>
            </a:pPr>
            <a:r>
              <a:t>Day insight: Monday is the strongest day, while Saturday is the lowest; the overall weekday pattern is relatively stable.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79552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Product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429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C3D7EB"/>
                </a:solidFill>
                <a:latin typeface="Aptos"/>
              </a:defRPr>
            </a:pPr>
            <a:r>
              <a:t>VOLUME &amp; REVENUE DRIVERS</a:t>
            </a:r>
          </a:p>
        </p:txBody>
      </p:sp>
      <p:pic>
        <p:nvPicPr>
          <p:cNvPr id="6" name="Picture 5" descr="produ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6903720" cy="394929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635240" y="1234440"/>
            <a:ext cx="3977639" cy="4434840"/>
          </a:xfrm>
          <a:prstGeom prst="roundRect">
            <a:avLst/>
          </a:prstGeom>
          <a:solidFill>
            <a:srgbClr val="F9FBFD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0" y="1399032"/>
            <a:ext cx="3520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345B"/>
                </a:solidFill>
                <a:latin typeface="Aptos"/>
              </a:defRPr>
            </a:pPr>
            <a:r>
              <a:t>Key product signals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1801368"/>
            <a:ext cx="3520439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232B34"/>
                </a:solidFill>
                <a:latin typeface="Aptos"/>
              </a:defRPr>
            </a:pPr>
            <a:r>
              <a:t>• Brewed Chai tea is the highest-volume product with 26,250 units sold.</a:t>
            </a:r>
          </a:p>
          <a:p>
            <a:pPr>
              <a:spcAft>
                <a:spcPts val="800"/>
              </a:spcAft>
              <a:defRPr sz="1100">
                <a:solidFill>
                  <a:srgbClr val="232B34"/>
                </a:solidFill>
                <a:latin typeface="Aptos"/>
              </a:defRPr>
            </a:pPr>
            <a:r>
              <a:t>• Barista Espresso is the top revenue contributor at R91.406.</a:t>
            </a:r>
          </a:p>
          <a:p>
            <a:pPr>
              <a:spcAft>
                <a:spcPts val="800"/>
              </a:spcAft>
              <a:defRPr sz="1100">
                <a:solidFill>
                  <a:srgbClr val="232B34"/>
                </a:solidFill>
                <a:latin typeface="Aptos"/>
              </a:defRPr>
            </a:pPr>
            <a:r>
              <a:t>• The top 3 volume products account for 36.0% of all units sold.</a:t>
            </a:r>
          </a:p>
          <a:p>
            <a:pPr>
              <a:spcAft>
                <a:spcPts val="800"/>
              </a:spcAft>
              <a:defRPr sz="1100">
                <a:solidFill>
                  <a:srgbClr val="232B34"/>
                </a:solidFill>
                <a:latin typeface="Aptos"/>
              </a:defRPr>
            </a:pPr>
            <a:r>
              <a:t>• Beverage-led products dominate the highest-volume positions, highlighting the importance of the core beverage range.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715000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4345B"/>
                </a:solidFill>
                <a:latin typeface="Aptos"/>
              </a:defRPr>
            </a:pPr>
            <a:r>
              <a:t>Management focus: protect availability of high-volume products while assessing margin and cross-sell opportunities.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79552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Trading Pattern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429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C3D7EB"/>
                </a:solidFill>
                <a:latin typeface="Aptos"/>
              </a:defRPr>
            </a:pPr>
            <a:r>
              <a:t>WHEN SALES HAPPEN</a:t>
            </a:r>
          </a:p>
        </p:txBody>
      </p:sp>
      <p:pic>
        <p:nvPicPr>
          <p:cNvPr id="6" name="Picture 5" descr="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97280"/>
            <a:ext cx="7040880" cy="32334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818120" y="1234440"/>
            <a:ext cx="3749039" cy="4389120"/>
          </a:xfrm>
          <a:prstGeom prst="roundRect">
            <a:avLst/>
          </a:prstGeom>
          <a:solidFill>
            <a:srgbClr val="F9FBFD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0" y="1399032"/>
            <a:ext cx="3291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345B"/>
                </a:solidFill>
                <a:latin typeface="Aptos"/>
              </a:defRPr>
            </a:pPr>
            <a:r>
              <a:t>What the pattern suggests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1801368"/>
            <a:ext cx="3291839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232B34"/>
                </a:solidFill>
                <a:latin typeface="Aptos"/>
              </a:defRPr>
            </a:pPr>
            <a:r>
              <a:t>• Weekdays generate 72.1% of revenue.</a:t>
            </a:r>
          </a:p>
          <a:p>
            <a:pPr>
              <a:spcAft>
                <a:spcPts val="800"/>
              </a:spcAft>
              <a:defRPr sz="1100">
                <a:solidFill>
                  <a:srgbClr val="232B34"/>
                </a:solidFill>
                <a:latin typeface="Aptos"/>
              </a:defRPr>
            </a:pPr>
            <a:r>
              <a:t>• Morning trading contributes 55.6% of revenue.</a:t>
            </a:r>
          </a:p>
          <a:p>
            <a:pPr>
              <a:spcAft>
                <a:spcPts val="800"/>
              </a:spcAft>
              <a:defRPr sz="1100">
                <a:solidFill>
                  <a:srgbClr val="232B34"/>
                </a:solidFill>
                <a:latin typeface="Aptos"/>
              </a:defRPr>
            </a:pPr>
            <a:r>
              <a:t>• Afternoon trading contributes 35.0%.</a:t>
            </a:r>
          </a:p>
          <a:p>
            <a:pPr>
              <a:spcAft>
                <a:spcPts val="800"/>
              </a:spcAft>
              <a:defRPr sz="1100">
                <a:solidFill>
                  <a:srgbClr val="232B34"/>
                </a:solidFill>
                <a:latin typeface="Aptos"/>
              </a:defRPr>
            </a:pPr>
            <a:r>
              <a:t>• Night trading is comparatively small, suggesting a clear opportunity to test targeted evening promotions if operationally viable.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715000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4345B"/>
                </a:solidFill>
                <a:latin typeface="Aptos"/>
              </a:defRPr>
            </a:pPr>
            <a:r>
              <a:t>Potential action: align staffing, inventory and promotions with the strongest morning and weekday demand windows.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79552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CEO Dashboard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429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C3D7EB"/>
                </a:solidFill>
                <a:latin typeface="Aptos"/>
              </a:defRPr>
            </a:pPr>
            <a:r>
              <a:t>ONE-PAGE MANAGEMENT SUMMARY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868680"/>
            <a:ext cx="2057400" cy="1051560"/>
          </a:xfrm>
          <a:prstGeom prst="roundRect">
            <a:avLst/>
          </a:prstGeom>
          <a:solidFill>
            <a:srgbClr val="F4F7FA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868680"/>
            <a:ext cx="64008" cy="1051560"/>
          </a:xfrm>
          <a:prstGeom prst="rect">
            <a:avLst/>
          </a:prstGeom>
          <a:solidFill>
            <a:srgbClr val="2C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088" y="1033271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5B6774"/>
                </a:solidFill>
                <a:latin typeface="Aptos"/>
              </a:defRPr>
            </a:pPr>
            <a:r>
              <a:t>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344168"/>
            <a:ext cx="17373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4345B"/>
                </a:solidFill>
                <a:latin typeface="Aptos"/>
              </a:defRPr>
            </a:pPr>
            <a:r>
              <a:rPr lang="en-ZA" dirty="0"/>
              <a:t>R</a:t>
            </a:r>
            <a:r>
              <a:rPr dirty="0"/>
              <a:t>698.8K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80" y="868680"/>
            <a:ext cx="2057400" cy="1051560"/>
          </a:xfrm>
          <a:prstGeom prst="roundRect">
            <a:avLst/>
          </a:prstGeom>
          <a:solidFill>
            <a:srgbClr val="F4F7FA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697480" y="868680"/>
            <a:ext cx="64008" cy="1051560"/>
          </a:xfrm>
          <a:prstGeom prst="rect">
            <a:avLst/>
          </a:prstGeom>
          <a:solidFill>
            <a:srgbClr val="1E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98648" y="1033271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5B6774"/>
                </a:solidFill>
                <a:latin typeface="Aptos"/>
              </a:defRPr>
            </a:pPr>
            <a:r>
              <a:t>UNITS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98648" y="1344168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4345B"/>
                </a:solidFill>
                <a:latin typeface="Aptos"/>
              </a:defRPr>
            </a:pPr>
            <a:r>
              <a:t>214.5K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92040" y="868680"/>
            <a:ext cx="2057400" cy="1051560"/>
          </a:xfrm>
          <a:prstGeom prst="roundRect">
            <a:avLst/>
          </a:prstGeom>
          <a:solidFill>
            <a:srgbClr val="F4F7FA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892040" y="868680"/>
            <a:ext cx="64008" cy="1051560"/>
          </a:xfrm>
          <a:prstGeom prst="rect">
            <a:avLst/>
          </a:prstGeom>
          <a:solidFill>
            <a:srgbClr val="E0A3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93207" y="1033271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5B6774"/>
                </a:solidFill>
                <a:latin typeface="Aptos"/>
              </a:defRPr>
            </a:pPr>
            <a:r>
              <a:t>TRANSACTIONS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93207" y="1344168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4345B"/>
                </a:solidFill>
                <a:latin typeface="Aptos"/>
              </a:defRPr>
            </a:pPr>
            <a:r>
              <a:t>149.1K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86600" y="868680"/>
            <a:ext cx="2057400" cy="1051560"/>
          </a:xfrm>
          <a:prstGeom prst="roundRect">
            <a:avLst/>
          </a:prstGeom>
          <a:solidFill>
            <a:srgbClr val="F4F7FA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086600" y="868680"/>
            <a:ext cx="64008" cy="1051560"/>
          </a:xfrm>
          <a:prstGeom prst="rect">
            <a:avLst/>
          </a:prstGeom>
          <a:solidFill>
            <a:srgbClr val="E85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87768" y="1033271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5B6774"/>
                </a:solidFill>
                <a:latin typeface="Aptos"/>
              </a:defRPr>
            </a:pPr>
            <a:r>
              <a:t>STORES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87768" y="1344168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4345B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81160" y="868680"/>
            <a:ext cx="2331720" cy="1051560"/>
          </a:xfrm>
          <a:prstGeom prst="roundRect">
            <a:avLst/>
          </a:prstGeom>
          <a:solidFill>
            <a:srgbClr val="F4F7FA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281160" y="868680"/>
            <a:ext cx="64008" cy="1051560"/>
          </a:xfrm>
          <a:prstGeom prst="rect">
            <a:avLst/>
          </a:prstGeom>
          <a:solidFill>
            <a:srgbClr val="2CA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482328" y="1033271"/>
            <a:ext cx="2011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5B6774"/>
                </a:solidFill>
                <a:latin typeface="Aptos"/>
              </a:defRPr>
            </a:pPr>
            <a:r>
              <a:t>JAN → JUN GROWTH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82328" y="1344168"/>
            <a:ext cx="20116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4345B"/>
                </a:solidFill>
                <a:latin typeface="Aptos"/>
              </a:defRPr>
            </a:pPr>
            <a:r>
              <a:t>+103.8%</a:t>
            </a:r>
          </a:p>
        </p:txBody>
      </p:sp>
      <p:pic>
        <p:nvPicPr>
          <p:cNvPr id="26" name="Picture 25" descr="month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48840"/>
            <a:ext cx="5532120" cy="2118360"/>
          </a:xfrm>
          <a:prstGeom prst="rect">
            <a:avLst/>
          </a:prstGeom>
        </p:spPr>
      </p:pic>
      <p:pic>
        <p:nvPicPr>
          <p:cNvPr id="27" name="Picture 26" descr="st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148840"/>
            <a:ext cx="5349240" cy="225257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products.png">
            <a:extLst>
              <a:ext uri="{FF2B5EF4-FFF2-40B4-BE49-F238E27FC236}">
                <a16:creationId xmlns:a16="http://schemas.microsoft.com/office/drawing/2014/main" id="{3FE64592-2B0A-25C6-672B-7B4B7EDDCE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1760" y="355601"/>
            <a:ext cx="6553200" cy="3748774"/>
          </a:xfrm>
          <a:prstGeom prst="rect">
            <a:avLst/>
          </a:prstGeom>
        </p:spPr>
      </p:pic>
      <p:pic>
        <p:nvPicPr>
          <p:cNvPr id="5" name="Picture 4" descr="mix.png">
            <a:extLst>
              <a:ext uri="{FF2B5EF4-FFF2-40B4-BE49-F238E27FC236}">
                <a16:creationId xmlns:a16="http://schemas.microsoft.com/office/drawing/2014/main" id="{99A9FA53-820F-AB7E-49AF-3B41225576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2560" y="355601"/>
            <a:ext cx="5303520" cy="3292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069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79552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CEO Takeaways &amp; Recommended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429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C3D7EB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1143000"/>
            <a:ext cx="566928" cy="566928"/>
          </a:xfrm>
          <a:prstGeom prst="ellipse">
            <a:avLst/>
          </a:prstGeom>
          <a:solidFill>
            <a:srgbClr val="2C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307592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12471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45B"/>
                </a:solidFill>
                <a:latin typeface="Aptos"/>
              </a:defRPr>
            </a:pPr>
            <a:r>
              <a:t>Sustain the growth momentum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490472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2B34"/>
                </a:solidFill>
                <a:latin typeface="Aptos"/>
              </a:defRPr>
            </a:pPr>
            <a:r>
              <a:t>Investigate the operational and commercial drivers behind the strong May–June revenue acceleration.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63040" y="2039112"/>
            <a:ext cx="9875520" cy="9144"/>
          </a:xfrm>
          <a:prstGeom prst="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85800" y="2377440"/>
            <a:ext cx="566928" cy="566928"/>
          </a:xfrm>
          <a:prstGeom prst="ellipse">
            <a:avLst/>
          </a:prstGeom>
          <a:solidFill>
            <a:srgbClr val="1E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2542032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35915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45B"/>
                </a:solidFill>
                <a:latin typeface="Aptos"/>
              </a:defRPr>
            </a:pPr>
            <a:r>
              <a:t>Optimise high-volume products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724912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2B34"/>
                </a:solidFill>
                <a:latin typeface="Aptos"/>
              </a:defRPr>
            </a:pPr>
            <a:r>
              <a:t>Protect availability of leading beverage products and assess pricing, margin and cross-sell opportunities.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63040" y="3273552"/>
            <a:ext cx="9875520" cy="9144"/>
          </a:xfrm>
          <a:prstGeom prst="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85800" y="3611880"/>
            <a:ext cx="566928" cy="566928"/>
          </a:xfrm>
          <a:prstGeom prst="ellipse">
            <a:avLst/>
          </a:prstGeom>
          <a:solidFill>
            <a:srgbClr val="E0A3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3776472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59359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45B"/>
                </a:solidFill>
                <a:latin typeface="Aptos"/>
              </a:defRPr>
            </a:pPr>
            <a:r>
              <a:t>Use demand patterns operationally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959352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2B34"/>
                </a:solidFill>
                <a:latin typeface="Aptos"/>
              </a:defRPr>
            </a:pPr>
            <a:r>
              <a:t>Align staffing, inventory and promotions with strong weekday and morning demand.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63040" y="4507992"/>
            <a:ext cx="9875520" cy="9144"/>
          </a:xfrm>
          <a:prstGeom prst="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85800" y="4846320"/>
            <a:ext cx="566928" cy="566928"/>
          </a:xfrm>
          <a:prstGeom prst="ellipse">
            <a:avLst/>
          </a:prstGeom>
          <a:solidFill>
            <a:srgbClr val="E85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5010912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82803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45B"/>
                </a:solidFill>
                <a:latin typeface="Aptos"/>
              </a:defRPr>
            </a:pPr>
            <a:r>
              <a:t>Strengthen automated monitoring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5193792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2B34"/>
                </a:solidFill>
                <a:latin typeface="Aptos"/>
              </a:defRPr>
            </a:pPr>
            <a:r>
              <a:t>Move from periodic reporting toward a governed Power BI dashboard with refreshed KPIs and exception alerts.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63040" y="5742432"/>
            <a:ext cx="9875520" cy="9144"/>
          </a:xfrm>
          <a:prstGeom prst="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617220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14345B"/>
                </a:solidFill>
                <a:latin typeface="Aptos"/>
              </a:defRPr>
            </a:pPr>
            <a:r>
              <a:t>Closing message: the analysis demonstrates a complete Data &amp; Business Analyst capability — from technical data inspection in Databricks SQL to executive-level decision support.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1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EC6A6"/>
                </a:solidFill>
                <a:latin typeface="Aptos"/>
              </a:rPr>
              <a:t>COFFEE 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91640"/>
            <a:ext cx="749807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 Display"/>
              </a:rPr>
              <a:t>SALES &amp; BUSINESS</a:t>
            </a:r>
            <a:br/>
            <a:r>
              <a:rPr sz="3000" b="1">
                <a:solidFill>
                  <a:srgbClr val="FFFFFF"/>
                </a:solidFill>
                <a:latin typeface="Aptos Display"/>
              </a:rPr>
              <a:t>PERFORMANCE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3154680"/>
            <a:ext cx="7132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6D8C9"/>
                </a:solidFill>
                <a:latin typeface="Aptos"/>
              </a:rPr>
              <a:t>Turning transaction data into decisions that grow revenue, sales and customer value.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32520" y="1280160"/>
            <a:ext cx="2057400" cy="2194560"/>
          </a:xfrm>
          <a:prstGeom prst="roundRect">
            <a:avLst/>
          </a:prstGeom>
          <a:solidFill>
            <a:srgbClr val="5C37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0" y="6858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DEC6A6"/>
                </a:solidFill>
                <a:latin typeface="Georgia"/>
              </a:rPr>
              <a:t>~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36608" y="6858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DEC6A6"/>
                </a:solidFill>
                <a:latin typeface="Georgia"/>
              </a:rPr>
              <a:t>~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0656" y="6858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DEC6A6"/>
                </a:solidFill>
                <a:latin typeface="Georgia"/>
              </a:rPr>
              <a:t>~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7548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DEC6A6"/>
                </a:solidFill>
                <a:latin typeface="Aptos"/>
              </a:rPr>
              <a:t>PERIOD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029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JAN – JUN 2023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47548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DEC6A6"/>
                </a:solidFill>
                <a:latin typeface="Aptos"/>
              </a:rPr>
              <a:t>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5029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ZA" sz="1500" b="1" dirty="0">
                <a:solidFill>
                  <a:srgbClr val="FFFFFF"/>
                </a:solidFill>
                <a:latin typeface="Aptos"/>
              </a:rPr>
              <a:t>R</a:t>
            </a:r>
            <a:r>
              <a:rPr sz="1500" b="1" dirty="0">
                <a:solidFill>
                  <a:srgbClr val="FFFFFF"/>
                </a:solidFill>
                <a:latin typeface="Aptos"/>
              </a:rPr>
              <a:t>698.8K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47548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DEC6A6"/>
                </a:solidFill>
                <a:latin typeface="Aptos"/>
              </a:rPr>
              <a:t>TECHNICAL STACK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5029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Databricks SQL • BI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08076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4B19E"/>
                </a:solidFill>
                <a:latin typeface="Aptos"/>
              </a:rPr>
              <a:t>Prepared for CEO | Data &amp; Business Analyst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D1E16"/>
                </a:solidFill>
                <a:latin typeface="Aptos Display"/>
              </a:rPr>
              <a:t>How We Can Grow Revenue &amp; Sales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229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635C"/>
                </a:solidFill>
                <a:latin typeface="Aptos"/>
              </a:rPr>
              <a:t>Recommended commercial actions based on the sales patterns in the analysis.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52578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5D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77240" y="1481328"/>
            <a:ext cx="502920" cy="502920"/>
          </a:xfrm>
          <a:prstGeom prst="ellipse">
            <a:avLst/>
          </a:prstGeom>
          <a:solidFill>
            <a:srgbClr val="D29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618488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399032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1E16"/>
                </a:solidFill>
                <a:latin typeface="Aptos"/>
              </a:rPr>
              <a:t>Increase average order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764792"/>
            <a:ext cx="4023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>
                <a:solidFill>
                  <a:srgbClr val="2D2B28"/>
                </a:solidFill>
                <a:latin typeface="Aptos"/>
              </a:rPr>
              <a:t>Bundle coffee + pastry/snack offers and introduce checkout upselling.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234440"/>
            <a:ext cx="52578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5D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446520" y="1481328"/>
            <a:ext cx="502920" cy="502920"/>
          </a:xfrm>
          <a:prstGeom prst="ellipse">
            <a:avLst/>
          </a:prstGeom>
          <a:solidFill>
            <a:srgbClr val="5C37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618488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1399032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1E16"/>
                </a:solidFill>
                <a:latin typeface="Aptos"/>
              </a:rPr>
              <a:t>Grow morning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1764792"/>
            <a:ext cx="4023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>
                <a:solidFill>
                  <a:srgbClr val="2D2B28"/>
                </a:solidFill>
                <a:latin typeface="Aptos"/>
              </a:rPr>
              <a:t>Use breakfast combos and commuter offers during the strongest morning demand window.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2788920"/>
            <a:ext cx="52578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5D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77240" y="3035808"/>
            <a:ext cx="502920" cy="502920"/>
          </a:xfrm>
          <a:prstGeom prst="ellipse">
            <a:avLst/>
          </a:prstGeom>
          <a:solidFill>
            <a:srgbClr val="3E7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3172968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2953512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1E16"/>
                </a:solidFill>
                <a:latin typeface="Aptos"/>
              </a:rPr>
              <a:t>Build repeat customers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319272"/>
            <a:ext cx="4023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>
                <a:solidFill>
                  <a:srgbClr val="2D2B28"/>
                </a:solidFill>
                <a:latin typeface="Aptos"/>
              </a:rPr>
              <a:t>Introduce a loyalty/rewards programme to increase visit frequency.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2788920"/>
            <a:ext cx="52578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5D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446520" y="3035808"/>
            <a:ext cx="502920" cy="502920"/>
          </a:xfrm>
          <a:prstGeom prst="ellipse">
            <a:avLst/>
          </a:prstGeom>
          <a:solidFill>
            <a:srgbClr val="B14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46520" y="3172968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2953512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1E16"/>
                </a:solidFill>
                <a:latin typeface="Aptos"/>
              </a:rPr>
              <a:t>Target weaker periods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3319272"/>
            <a:ext cx="4023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>
                <a:solidFill>
                  <a:srgbClr val="2D2B28"/>
                </a:solidFill>
                <a:latin typeface="Aptos"/>
              </a:rPr>
              <a:t>Test targeted Saturday/evening promotions instead of broad discounts.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4343400"/>
            <a:ext cx="52578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5D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77240" y="4590288"/>
            <a:ext cx="502920" cy="502920"/>
          </a:xfrm>
          <a:prstGeom prst="ellipse">
            <a:avLst/>
          </a:prstGeom>
          <a:solidFill>
            <a:srgbClr val="14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4727448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4507992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1E16"/>
                </a:solidFill>
                <a:latin typeface="Aptos"/>
              </a:rPr>
              <a:t>Protect top products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4873752"/>
            <a:ext cx="4023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>
                <a:solidFill>
                  <a:srgbClr val="2D2B28"/>
                </a:solidFill>
                <a:latin typeface="Aptos"/>
              </a:rPr>
              <a:t>Use demand data to improve availability and inventory planning for high-volume items.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4343400"/>
            <a:ext cx="52578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5D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446520" y="4590288"/>
            <a:ext cx="502920" cy="502920"/>
          </a:xfrm>
          <a:prstGeom prst="ellipse">
            <a:avLst/>
          </a:prstGeom>
          <a:solidFill>
            <a:srgbClr val="7A5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46520" y="4727448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4507992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1E16"/>
                </a:solidFill>
                <a:latin typeface="Aptos"/>
              </a:rPr>
              <a:t>Expand digital sales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4873752"/>
            <a:ext cx="4023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>
                <a:solidFill>
                  <a:srgbClr val="2D2B28"/>
                </a:solidFill>
                <a:latin typeface="Aptos"/>
              </a:rPr>
              <a:t>Promote pre-ordering, delivery and office/group coffee orders to create incremental demand.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6539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9635C"/>
                </a:solidFill>
                <a:latin typeface="Aptos"/>
              </a:rPr>
              <a:t>Coffee Shop Sales Analytics • Data &amp; Business Analyst • Source: Data_Processing.xlsx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D1E16"/>
                </a:solidFill>
                <a:latin typeface="Aptos Display"/>
              </a:rPr>
              <a:t>CEO Growth Scorecard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229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635C"/>
                </a:solidFill>
                <a:latin typeface="Aptos"/>
              </a:rPr>
              <a:t>Track these KPIs monthly to measure whether growth initiatives are actually working.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6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325880"/>
            <a:ext cx="64008" cy="1325880"/>
          </a:xfrm>
          <a:prstGeom prst="rect">
            <a:avLst/>
          </a:prstGeom>
          <a:solidFill>
            <a:srgbClr val="14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463039"/>
            <a:ext cx="3154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69635C"/>
                </a:solidFill>
                <a:latin typeface="Aptos"/>
              </a:rP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64792"/>
            <a:ext cx="3154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ZA" sz="2000" b="1" dirty="0">
                <a:solidFill>
                  <a:srgbClr val="2D1E16"/>
                </a:solidFill>
                <a:latin typeface="Aptos"/>
              </a:rPr>
              <a:t>R</a:t>
            </a:r>
            <a:r>
              <a:rPr sz="2000" b="1" dirty="0">
                <a:solidFill>
                  <a:srgbClr val="2D1E16"/>
                </a:solidFill>
                <a:latin typeface="Aptos"/>
              </a:rPr>
              <a:t>698,812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4028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30" b="0">
                <a:solidFill>
                  <a:srgbClr val="69635C"/>
                </a:solidFill>
                <a:latin typeface="Aptos"/>
              </a:rPr>
              <a:t>Total sales value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2588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6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325880"/>
            <a:ext cx="64008" cy="1325880"/>
          </a:xfrm>
          <a:prstGeom prst="rect">
            <a:avLst/>
          </a:prstGeom>
          <a:solidFill>
            <a:srgbClr val="3E7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463039"/>
            <a:ext cx="3154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69635C"/>
                </a:solidFill>
                <a:latin typeface="Aptos"/>
              </a:rPr>
              <a:t>Transactions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764792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D1E16"/>
                </a:solidFill>
                <a:latin typeface="Aptos"/>
              </a:rPr>
              <a:t>149,116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24028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30" b="0">
                <a:solidFill>
                  <a:srgbClr val="69635C"/>
                </a:solidFill>
                <a:latin typeface="Aptos"/>
              </a:rPr>
              <a:t>Number of purchases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132588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6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83880" y="1325880"/>
            <a:ext cx="64008" cy="1325880"/>
          </a:xfrm>
          <a:prstGeom prst="rect">
            <a:avLst/>
          </a:prstGeom>
          <a:solidFill>
            <a:srgbClr val="D29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66760" y="1463039"/>
            <a:ext cx="3154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69635C"/>
                </a:solidFill>
                <a:latin typeface="Aptos"/>
              </a:rPr>
              <a:t>Average order value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1764792"/>
            <a:ext cx="3154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ZA" sz="2000" b="1" dirty="0">
                <a:solidFill>
                  <a:srgbClr val="2D1E16"/>
                </a:solidFill>
                <a:latin typeface="Aptos"/>
              </a:rPr>
              <a:t>R</a:t>
            </a:r>
            <a:r>
              <a:rPr sz="2000" b="1" dirty="0">
                <a:solidFill>
                  <a:srgbClr val="2D1E16"/>
                </a:solidFill>
                <a:latin typeface="Aptos"/>
              </a:rPr>
              <a:t>4.69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24028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30" b="0">
                <a:solidFill>
                  <a:srgbClr val="69635C"/>
                </a:solidFill>
                <a:latin typeface="Aptos"/>
              </a:rPr>
              <a:t>Revenue ÷ transactions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15468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6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94360" y="3154680"/>
            <a:ext cx="64008" cy="1325880"/>
          </a:xfrm>
          <a:prstGeom prst="rect">
            <a:avLst/>
          </a:prstGeom>
          <a:solidFill>
            <a:srgbClr val="5C37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3291840"/>
            <a:ext cx="3154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69635C"/>
                </a:solidFill>
                <a:latin typeface="Aptos"/>
              </a:rPr>
              <a:t>Units per transaction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593592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D1E16"/>
                </a:solidFill>
                <a:latin typeface="Aptos"/>
              </a:rPr>
              <a:t>1.44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06908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30" b="0">
                <a:solidFill>
                  <a:srgbClr val="69635C"/>
                </a:solidFill>
                <a:latin typeface="Aptos"/>
              </a:rPr>
              <a:t>Units ÷ transactions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315468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6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389120" y="3154680"/>
            <a:ext cx="64008" cy="1325880"/>
          </a:xfrm>
          <a:prstGeom prst="rect">
            <a:avLst/>
          </a:prstGeom>
          <a:solidFill>
            <a:srgbClr val="7A5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0" y="3291840"/>
            <a:ext cx="3154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69635C"/>
                </a:solidFill>
                <a:latin typeface="Aptos"/>
              </a:rPr>
              <a:t>Repeat customer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3593592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D1E16"/>
                </a:solidFill>
                <a:latin typeface="Aptos"/>
              </a:rPr>
              <a:t>Track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406908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30" b="0">
                <a:solidFill>
                  <a:srgbClr val="69635C"/>
                </a:solidFill>
                <a:latin typeface="Aptos"/>
              </a:rPr>
              <a:t>Requires customer / loyalty ID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3880" y="315468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6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183880" y="3154680"/>
            <a:ext cx="64008" cy="1325880"/>
          </a:xfrm>
          <a:prstGeom prst="rect">
            <a:avLst/>
          </a:prstGeom>
          <a:solidFill>
            <a:srgbClr val="B14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66760" y="3291840"/>
            <a:ext cx="3154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69635C"/>
                </a:solidFill>
                <a:latin typeface="Aptos"/>
              </a:rPr>
              <a:t>Promotion uplift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3593592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D1E16"/>
                </a:solidFill>
                <a:latin typeface="Aptos"/>
              </a:rPr>
              <a:t>Track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406908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30" b="0">
                <a:solidFill>
                  <a:srgbClr val="69635C"/>
                </a:solidFill>
                <a:latin typeface="Aptos"/>
              </a:rPr>
              <a:t>Compare campaign vs baseline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5349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D1E16"/>
                </a:solidFill>
                <a:latin typeface="Aptos"/>
              </a:rPr>
              <a:t>Recommended management approach: establish a monthly growth scorecard linking revenue, transaction volume, basket size and customer behaviour to each commercial initiative.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56539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9635C"/>
                </a:solidFill>
                <a:latin typeface="Aptos"/>
              </a:rPr>
              <a:t>Coffee Shop Sales Analytics • Data &amp; Business Analyst • Source: Data_Processing.xlsx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1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 Display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25880"/>
            <a:ext cx="1024128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dirty="0">
                <a:solidFill>
                  <a:srgbClr val="F0E5D8"/>
                </a:solidFill>
                <a:latin typeface="Aptos"/>
              </a:rPr>
              <a:t>The business generated </a:t>
            </a:r>
            <a:r>
              <a:rPr lang="en-ZA" sz="1700" b="0" dirty="0">
                <a:solidFill>
                  <a:srgbClr val="F0E5D8"/>
                </a:solidFill>
                <a:latin typeface="Aptos"/>
              </a:rPr>
              <a:t>R</a:t>
            </a:r>
            <a:r>
              <a:rPr sz="1700" b="0" dirty="0">
                <a:solidFill>
                  <a:srgbClr val="F0E5D8"/>
                </a:solidFill>
                <a:latin typeface="Aptos"/>
              </a:rPr>
              <a:t>698,812 in revenue across 3 stores during the analysis period, with positive momentum toward June and strong demand concentrated in core products.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88920"/>
            <a:ext cx="3337560" cy="1965960"/>
          </a:xfrm>
          <a:prstGeom prst="roundRect">
            <a:avLst/>
          </a:prstGeom>
          <a:solidFill>
            <a:srgbClr val="5C3720"/>
          </a:solidFill>
          <a:ln>
            <a:solidFill>
              <a:srgbClr val="7E5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3035808"/>
            <a:ext cx="2880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D29D41"/>
                </a:solidFill>
                <a:latin typeface="Aptos"/>
              </a:rPr>
              <a:t>WHAT THE DATA TELLS 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566160"/>
            <a:ext cx="2880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Revenue momentum is positive and the core product range is driving meaningful sales volume.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2788920"/>
            <a:ext cx="3337560" cy="1965960"/>
          </a:xfrm>
          <a:prstGeom prst="roundRect">
            <a:avLst/>
          </a:prstGeom>
          <a:solidFill>
            <a:srgbClr val="5C3720"/>
          </a:solidFill>
          <a:ln>
            <a:solidFill>
              <a:srgbClr val="7E5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0" y="3035808"/>
            <a:ext cx="2880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E774B"/>
                </a:solidFill>
                <a:latin typeface="Aptos"/>
              </a:rPr>
              <a:t>WHAT THE BUSINESS CAN 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3566160"/>
            <a:ext cx="2880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Grow basket size, strengthen loyalty, target weaker trading periods and protect high-volume products.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788920"/>
            <a:ext cx="3337560" cy="1965960"/>
          </a:xfrm>
          <a:prstGeom prst="roundRect">
            <a:avLst/>
          </a:prstGeom>
          <a:solidFill>
            <a:srgbClr val="5C3720"/>
          </a:solidFill>
          <a:ln>
            <a:solidFill>
              <a:srgbClr val="7E5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49640" y="3035808"/>
            <a:ext cx="2880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DEC6A6"/>
                </a:solidFill>
                <a:latin typeface="Aptos"/>
              </a:rPr>
              <a:t>WHAT THE ANALYST ENABLES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3566160"/>
            <a:ext cx="2880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Databricks SQL validates and processes the data; analytics converts it into insight and dashboards convert insight into action.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5778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FINAL MESSAGE: The opportunity is not only to report what happened — it is to use data to decide what the coffee business should do next.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ange Experience">
  <a:themeElements>
    <a:clrScheme name="Orange Experience">
      <a:dk1>
        <a:srgbClr val="131313"/>
      </a:dk1>
      <a:lt1>
        <a:sysClr val="window" lastClr="FFFFFF"/>
      </a:lt1>
      <a:dk2>
        <a:srgbClr val="444742"/>
      </a:dk2>
      <a:lt2>
        <a:srgbClr val="EDECE9"/>
      </a:lt2>
      <a:accent1>
        <a:srgbClr val="ED6845"/>
      </a:accent1>
      <a:accent2>
        <a:srgbClr val="F48A56"/>
      </a:accent2>
      <a:accent3>
        <a:srgbClr val="9FA295"/>
      </a:accent3>
      <a:accent4>
        <a:srgbClr val="5B6E74"/>
      </a:accent4>
      <a:accent5>
        <a:srgbClr val="6E7868"/>
      </a:accent5>
      <a:accent6>
        <a:srgbClr val="A1AAAA"/>
      </a:accent6>
      <a:hlink>
        <a:srgbClr val="F05814"/>
      </a:hlink>
      <a:folHlink>
        <a:srgbClr val="E99401"/>
      </a:folHlink>
    </a:clrScheme>
    <a:fontScheme name="Custom 40">
      <a:majorFont>
        <a:latin typeface="Oswald SemiBold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range experience" id="{9BAA8FFB-1EEF-49AC-B7FF-0F37799585E9}" vid="{6523F788-A6E6-47B0-B3C7-625411BE5A1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Orange Experience</Template>
  <TotalTime>12</TotalTime>
  <Words>1020</Words>
  <Application>Microsoft Office PowerPoint</Application>
  <PresentationFormat>Widescreen</PresentationFormat>
  <Paragraphs>169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Georgia</vt:lpstr>
      <vt:lpstr>Oswald SemiBold</vt:lpstr>
      <vt:lpstr>Univers Condensed Light</vt:lpstr>
      <vt:lpstr>Orange Experience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Khonani Masindi</cp:lastModifiedBy>
  <cp:revision>3</cp:revision>
  <dcterms:created xsi:type="dcterms:W3CDTF">2013-01-27T09:14:16Z</dcterms:created>
  <dcterms:modified xsi:type="dcterms:W3CDTF">2026-10-11T16:41:51Z</dcterms:modified>
  <cp:category/>
</cp:coreProperties>
</file>