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66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08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9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75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06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1687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34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07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31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24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5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97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69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55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898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019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420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3339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537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00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281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490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1822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332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575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43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14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685800"/>
            <a:ext cx="6400800" cy="5394960"/>
          </a:xfrm>
          <a:prstGeom prst="roundRect">
            <a:avLst/>
          </a:prstGeom>
          <a:solidFill>
            <a:srgbClr val="F7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" y="1051560"/>
            <a:ext cx="109728" cy="4389120"/>
          </a:xfrm>
          <a:prstGeom prst="rect">
            <a:avLst/>
          </a:prstGeom>
          <a:solidFill>
            <a:srgbClr val="995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1325880"/>
            <a:ext cx="52120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482719"/>
                </a:solidFill>
                <a:latin typeface="Aptos Display"/>
              </a:defRPr>
            </a:pPr>
            <a:r>
              <a:t>BRIGHT COFFEE SHOP</a:t>
            </a:r>
          </a:p>
          <a:p>
            <a:pPr>
              <a:defRPr sz="4400" b="1">
                <a:solidFill>
                  <a:srgbClr val="7A482A"/>
                </a:solidFill>
                <a:latin typeface="Aptos Display"/>
              </a:defRPr>
            </a:pPr>
            <a: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315468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5C3420"/>
                </a:solidFill>
                <a:latin typeface="Aptos"/>
              </a:defRPr>
            </a:pPr>
            <a:r>
              <a:t>Data &amp; Business Analytics</a:t>
            </a:r>
          </a:p>
          <a:p>
            <a:pPr>
              <a:defRPr sz="1600">
                <a:solidFill>
                  <a:srgbClr val="785E4B"/>
                </a:solidFill>
                <a:latin typeface="Aptos"/>
              </a:defRPr>
            </a:pPr>
            <a:r>
              <a:t>CEO 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498348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76952"/>
                </a:solidFill>
                <a:latin typeface="Aptos"/>
              </a:defRPr>
            </a:pPr>
            <a:r>
              <a:t>Turning coffee sales data into decisions, growth and action</a:t>
            </a:r>
          </a:p>
        </p:txBody>
      </p:sp>
      <p:pic>
        <p:nvPicPr>
          <p:cNvPr id="7" name="Picture 6" descr="bright_coffee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4663440" cy="362712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0881360" y="5303520"/>
            <a:ext cx="164592" cy="164592"/>
          </a:xfrm>
          <a:prstGeom prst="ellipse">
            <a:avLst/>
          </a:prstGeom>
          <a:solidFill>
            <a:srgbClr val="B7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201400" y="4892040"/>
            <a:ext cx="109728" cy="109728"/>
          </a:xfrm>
          <a:prstGeom prst="ellipse">
            <a:avLst/>
          </a:prstGeom>
          <a:solidFill>
            <a:srgbClr val="B7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61320" y="5623560"/>
            <a:ext cx="91440" cy="91440"/>
          </a:xfrm>
          <a:prstGeom prst="ellipse">
            <a:avLst/>
          </a:prstGeom>
          <a:solidFill>
            <a:srgbClr val="B7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Executive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D7EB"/>
                </a:solidFill>
                <a:latin typeface="Aptos"/>
              </a:defRPr>
            </a:pPr>
            <a:r>
              <a:t>CEO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868680"/>
            <a:ext cx="24231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868680"/>
            <a:ext cx="64008" cy="1097280"/>
          </a:xfrm>
          <a:prstGeom prst="rect">
            <a:avLst/>
          </a:prstGeom>
          <a:solidFill>
            <a:srgbClr val="2C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03327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B6774"/>
                </a:solidFill>
                <a:latin typeface="Aptos"/>
              </a:defRPr>
            </a:pPr>
            <a:r>
              <a:t>TOTAL SALES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344168"/>
            <a:ext cx="2103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45B"/>
                </a:solidFill>
                <a:latin typeface="Aptos"/>
              </a:defRPr>
            </a:pPr>
            <a:r>
              <a:rPr lang="en-ZA" dirty="0"/>
              <a:t>$</a:t>
            </a:r>
            <a:r>
              <a:rPr dirty="0"/>
              <a:t>698,812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868680"/>
            <a:ext cx="24231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63240" y="868680"/>
            <a:ext cx="64008" cy="1097280"/>
          </a:xfrm>
          <a:prstGeom prst="rect">
            <a:avLst/>
          </a:prstGeom>
          <a:solidFill>
            <a:srgbClr val="1E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64408" y="103327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B6774"/>
                </a:solidFill>
                <a:latin typeface="Aptos"/>
              </a:defRPr>
            </a:pPr>
            <a:r>
              <a:t>UNITS SOLD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13441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45B"/>
                </a:solidFill>
                <a:latin typeface="Aptos"/>
              </a:defRPr>
            </a:pPr>
            <a:r>
              <a:t>214,470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868680"/>
            <a:ext cx="24231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23560" y="868680"/>
            <a:ext cx="64008" cy="1097280"/>
          </a:xfrm>
          <a:prstGeom prst="rect">
            <a:avLst/>
          </a:prstGeom>
          <a:solidFill>
            <a:srgbClr val="E0A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24728" y="103327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B6774"/>
                </a:solidFill>
                <a:latin typeface="Aptos"/>
              </a:defRPr>
            </a:pPr>
            <a:r>
              <a:t>SALES 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4728" y="13441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45B"/>
                </a:solidFill>
                <a:latin typeface="Aptos"/>
              </a:defRPr>
            </a:pPr>
            <a:r>
              <a:t>149,116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868680"/>
            <a:ext cx="24231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79" y="868680"/>
            <a:ext cx="64008" cy="1097280"/>
          </a:xfrm>
          <a:prstGeom prst="rect">
            <a:avLst/>
          </a:prstGeom>
          <a:solidFill>
            <a:srgbClr val="E85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5048" y="103327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B6774"/>
                </a:solidFill>
                <a:latin typeface="Aptos"/>
              </a:defRPr>
            </a:pPr>
            <a:r>
              <a:t>STORE LOCATIONS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13441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45B"/>
                </a:solidFill>
                <a:latin typeface="Aptos"/>
              </a:defRPr>
            </a:pPr>
            <a:r>
              <a:t>3</a:t>
            </a:r>
          </a:p>
        </p:txBody>
      </p:sp>
      <p:pic>
        <p:nvPicPr>
          <p:cNvPr id="22" name="Picture 21" descr="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5532120" cy="2512906"/>
          </a:xfrm>
          <a:prstGeom prst="rect">
            <a:avLst/>
          </a:prstGeom>
        </p:spPr>
      </p:pic>
      <p:pic>
        <p:nvPicPr>
          <p:cNvPr id="23" name="Picture 22" descr="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48840"/>
            <a:ext cx="5349240" cy="280198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571500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45B"/>
                </a:solidFill>
                <a:latin typeface="Aptos"/>
              </a:defRPr>
            </a:pPr>
            <a:r>
              <a:rPr dirty="0"/>
              <a:t>Headline: Revenue increased from </a:t>
            </a:r>
            <a:r>
              <a:rPr lang="en-ZA" dirty="0"/>
              <a:t>$</a:t>
            </a:r>
            <a:r>
              <a:rPr dirty="0"/>
              <a:t>81,678 in January to </a:t>
            </a:r>
            <a:r>
              <a:rPr lang="en-ZA" dirty="0"/>
              <a:t>$</a:t>
            </a:r>
            <a:r>
              <a:rPr dirty="0"/>
              <a:t>166,486 in June (+103.8%), while performance remained relatively balanced across the three stores.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4"/>
                </a:solidFill>
                <a:latin typeface="Aptos"/>
              </a:defRPr>
            </a:pPr>
            <a:r>
              <a:t>Source: Data_Processing.xlsx | Analysis period: Jan–Jun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 &amp; Analytics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D7EB"/>
                </a:solidFill>
                <a:latin typeface="Aptos"/>
              </a:defRPr>
            </a:pPr>
            <a:r>
              <a:t>END-TO-END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600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14984" y="1993392"/>
            <a:ext cx="576072" cy="576072"/>
          </a:xfrm>
          <a:prstGeom prst="ellipse">
            <a:avLst/>
          </a:prstGeom>
          <a:solidFill>
            <a:srgbClr val="2C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4984" y="2103120"/>
            <a:ext cx="576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45B"/>
                </a:solidFill>
                <a:latin typeface="Aptos"/>
              </a:defRPr>
            </a:pPr>
            <a:r>
              <a:t>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B6774"/>
                </a:solidFill>
                <a:latin typeface="Aptos"/>
              </a:defRPr>
            </a:pPr>
            <a:r>
              <a:t>POS transactions captured at source.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651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677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1828800"/>
            <a:ext cx="1600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80944" y="1993392"/>
            <a:ext cx="576072" cy="576072"/>
          </a:xfrm>
          <a:prstGeom prst="ellipse">
            <a:avLst/>
          </a:prstGeom>
          <a:solidFill>
            <a:srgbClr val="2C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80944" y="2103120"/>
            <a:ext cx="576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69748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45B"/>
                </a:solidFill>
                <a:latin typeface="Aptos"/>
              </a:defRPr>
            </a:pPr>
            <a:r>
              <a:t>DATA 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24612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B6774"/>
                </a:solidFill>
                <a:latin typeface="Aptos"/>
              </a:defRPr>
            </a:pPr>
            <a:r>
              <a:t>ETL moves data into the analytics environment.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2651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677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1600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46904" y="1993392"/>
            <a:ext cx="576072" cy="576072"/>
          </a:xfrm>
          <a:prstGeom prst="ellipse">
            <a:avLst/>
          </a:prstGeom>
          <a:solidFill>
            <a:srgbClr val="674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46904" y="2103120"/>
            <a:ext cx="576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69748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45B"/>
                </a:solidFill>
                <a:latin typeface="Aptos"/>
              </a:defRPr>
            </a:pPr>
            <a:r>
              <a:t>DATABRICKS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24612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B6774"/>
                </a:solidFill>
                <a:latin typeface="Aptos"/>
              </a:defRPr>
            </a:pPr>
            <a:r>
              <a:t>Technical inspection, cleaning and transformation.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7" y="2651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677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828800"/>
            <a:ext cx="1600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912864" y="1993392"/>
            <a:ext cx="576072" cy="576072"/>
          </a:xfrm>
          <a:prstGeom prst="ellipse">
            <a:avLst/>
          </a:prstGeom>
          <a:solidFill>
            <a:srgbClr val="E85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12864" y="2103120"/>
            <a:ext cx="576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69748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45B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24612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B6774"/>
                </a:solidFill>
                <a:latin typeface="Aptos"/>
              </a:defRPr>
            </a:pPr>
            <a:r>
              <a:t>Excel / analytical work turns data into insights.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2651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677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1828800"/>
            <a:ext cx="1600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878824" y="1993392"/>
            <a:ext cx="576072" cy="576072"/>
          </a:xfrm>
          <a:prstGeom prst="ellipse">
            <a:avLst/>
          </a:prstGeom>
          <a:solidFill>
            <a:srgbClr val="E0A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78824" y="2103120"/>
            <a:ext cx="576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69748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45B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24612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B6774"/>
                </a:solidFill>
                <a:latin typeface="Aptos"/>
              </a:defRPr>
            </a:pPr>
            <a:r>
              <a:t>PowerPoint / BI communicates the story.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8" y="2651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677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1828800"/>
            <a:ext cx="1600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844784" y="1993392"/>
            <a:ext cx="576072" cy="576072"/>
          </a:xfrm>
          <a:prstGeom prst="ellipse">
            <a:avLst/>
          </a:prstGeom>
          <a:solidFill>
            <a:srgbClr val="2C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844784" y="2103120"/>
            <a:ext cx="576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269748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45B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324612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B6774"/>
                </a:solidFill>
                <a:latin typeface="Aptos"/>
              </a:defRPr>
            </a:pPr>
            <a:r>
              <a:t>Dashboards support continuous performance tracking.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572000"/>
            <a:ext cx="5349240" cy="1417320"/>
          </a:xfrm>
          <a:prstGeom prst="roundRect">
            <a:avLst/>
          </a:prstGeom>
          <a:solidFill>
            <a:srgbClr val="F9FBFD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473659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45B"/>
                </a:solidFill>
                <a:latin typeface="Aptos"/>
              </a:defRPr>
            </a:pPr>
            <a:r>
              <a:t>Technical data inspection in Databricks SQL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138928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Validated field structure, data types and completeness before analysis.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Used SQL to filter, aggregate and transform transaction-level data.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Created analysis-ready datasets for downstream reporting.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4572000"/>
            <a:ext cx="5257800" cy="1417320"/>
          </a:xfrm>
          <a:prstGeom prst="roundRect">
            <a:avLst/>
          </a:prstGeom>
          <a:solidFill>
            <a:srgbClr val="F9FBFD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0" y="473659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45B"/>
                </a:solidFill>
                <a:latin typeface="Aptos"/>
              </a:defRPr>
            </a:pPr>
            <a:r>
              <a:t>Business analyst contribution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138928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Translated raw transaction data into business questions and KPIs.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Identified revenue, product, store and time-of-day patterns.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Converted findings into an executive-ready story and dashboard.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4"/>
                </a:solidFill>
                <a:latin typeface="Aptos"/>
              </a:defRPr>
            </a:pPr>
            <a:r>
              <a:t>Source: Data_Processing.xlsx | Analysis period: Jan–Jun 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Revenue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D7EB"/>
                </a:solidFill>
                <a:latin typeface="Aptos"/>
              </a:defRPr>
            </a:pPr>
            <a:r>
              <a:t>TREND ANALYSIS</a:t>
            </a:r>
          </a:p>
        </p:txBody>
      </p:sp>
      <p:pic>
        <p:nvPicPr>
          <p:cNvPr id="6" name="Picture 5" descr="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7498079" cy="340592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83879" y="1234440"/>
            <a:ext cx="3429000" cy="4480560"/>
          </a:xfrm>
          <a:prstGeom prst="roundRect">
            <a:avLst/>
          </a:prstGeom>
          <a:solidFill>
            <a:srgbClr val="F9FBFD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139903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45B"/>
                </a:solidFill>
                <a:latin typeface="Aptos"/>
              </a:defRPr>
            </a:pPr>
            <a:r>
              <a:t>Executive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801368"/>
            <a:ext cx="2971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June delivered the highest monthly revenue at $166,486.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Revenue grew 103.8% from January to June.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The strongest acceleration occurred from April through June.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The pattern indicates positive sales momentum across the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45B"/>
                </a:solidFill>
                <a:latin typeface="Aptos"/>
              </a:defRPr>
            </a:pPr>
            <a:r>
              <a:t>Management focus: understand the drivers behind the May–June acceleration and determine which can be sustained.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4"/>
                </a:solidFill>
                <a:latin typeface="Aptos"/>
              </a:defRPr>
            </a:pPr>
            <a:r>
              <a:t>Source: Data_Processing.xlsx | Analysis period: Jan–Jun 2023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Where Revenue Is Generated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D7EB"/>
                </a:solidFill>
                <a:latin typeface="Aptos"/>
              </a:defRPr>
            </a:pPr>
            <a:r>
              <a:t>STORE &amp; DAY PERFORMANCE</a:t>
            </a:r>
          </a:p>
        </p:txBody>
      </p:sp>
      <p:pic>
        <p:nvPicPr>
          <p:cNvPr id="6" name="Picture 5" descr="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5486400" cy="2873829"/>
          </a:xfrm>
          <a:prstGeom prst="rect">
            <a:avLst/>
          </a:prstGeom>
        </p:spPr>
      </p:pic>
      <p:pic>
        <p:nvPicPr>
          <p:cNvPr id="7" name="Picture 6" descr="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97280"/>
            <a:ext cx="5394960" cy="26688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532120"/>
            <a:ext cx="5257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4345B"/>
                </a:solidFill>
                <a:latin typeface="Aptos"/>
              </a:defRPr>
            </a:pPr>
            <a:r>
              <a:t>Store insight: Hell's Kitchen leads at $236,511, but the spread between the three locations is only about $6,454.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553212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4345B"/>
                </a:solidFill>
                <a:latin typeface="Aptos"/>
              </a:defRPr>
            </a:pPr>
            <a:r>
              <a:t>Day insight: Monday is the strongest day, while Saturday is the lowest; the overall weekday pattern is relatively stable.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4"/>
                </a:solidFill>
                <a:latin typeface="Aptos"/>
              </a:defRPr>
            </a:pPr>
            <a:r>
              <a:t>Source: Data_Processing.xlsx | Analysis period: Jan–Jun 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Product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D7EB"/>
                </a:solidFill>
                <a:latin typeface="Aptos"/>
              </a:defRPr>
            </a:pPr>
            <a:r>
              <a:t>VOLUME &amp; REVENUE DRIVERS</a:t>
            </a:r>
          </a:p>
        </p:txBody>
      </p:sp>
      <p:pic>
        <p:nvPicPr>
          <p:cNvPr id="6" name="Picture 5" descr="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6903720" cy="39492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234440"/>
            <a:ext cx="3977639" cy="4434840"/>
          </a:xfrm>
          <a:prstGeom prst="roundRect">
            <a:avLst/>
          </a:prstGeom>
          <a:solidFill>
            <a:srgbClr val="F9FBFD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0" y="1399032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45B"/>
                </a:solidFill>
                <a:latin typeface="Aptos"/>
              </a:defRPr>
            </a:pPr>
            <a:r>
              <a:t>Key product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801368"/>
            <a:ext cx="35204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Brewed Chai tea is the highest-volume product with 26,250 units sold.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Barista Espresso is the top revenue contributor at $91,406.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The top 3 volume products account for 36.0% of all units sold.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Beverage-led products dominate the highest-volume positions, highlighting the importance of the core beverage range.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45B"/>
                </a:solidFill>
                <a:latin typeface="Aptos"/>
              </a:defRPr>
            </a:pPr>
            <a:r>
              <a:t>Management focus: protect availability of high-volume products while assessing margin and cross-sell opportunities.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4"/>
                </a:solidFill>
                <a:latin typeface="Aptos"/>
              </a:defRPr>
            </a:pPr>
            <a:r>
              <a:t>Source: Data_Processing.xlsx | Analysis period: Jan–Jun 2023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Trading Pattern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D7EB"/>
                </a:solidFill>
                <a:latin typeface="Aptos"/>
              </a:defRPr>
            </a:pPr>
            <a:r>
              <a:t>WHEN SALES HAPPEN</a:t>
            </a:r>
          </a:p>
        </p:txBody>
      </p:sp>
      <p:pic>
        <p:nvPicPr>
          <p:cNvPr id="6" name="Picture 5" descr="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7040880" cy="32334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234440"/>
            <a:ext cx="3749039" cy="4389120"/>
          </a:xfrm>
          <a:prstGeom prst="roundRect">
            <a:avLst/>
          </a:prstGeom>
          <a:solidFill>
            <a:srgbClr val="F9FBFD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0" y="1399032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45B"/>
                </a:solidFill>
                <a:latin typeface="Aptos"/>
              </a:defRPr>
            </a:pPr>
            <a:r>
              <a:t>What the pattern suggests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801368"/>
            <a:ext cx="329183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Weekdays generate 72.1% of revenue.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Morning trading contributes 55.6% of revenue.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Afternoon trading contributes 35.0%.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Night trading is comparatively small, suggesting a clear opportunity to test targeted evening promotions if operationally viable.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45B"/>
                </a:solidFill>
                <a:latin typeface="Aptos"/>
              </a:defRPr>
            </a:pPr>
            <a:r>
              <a:t>Potential action: align staffing, inventory and promotions with the strongest morning and weekday demand windows.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4"/>
                </a:solidFill>
                <a:latin typeface="Aptos"/>
              </a:defRPr>
            </a:pPr>
            <a:r>
              <a:t>Source: Data_Processing.xlsx | Analysis period: Jan–Jun 2023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Technical Data Inspection &amp;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D7EB"/>
                </a:solidFill>
                <a:latin typeface="Aptos"/>
              </a:defRPr>
            </a:pPr>
            <a:r>
              <a:t>DATABRICKS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45B"/>
                </a:solidFill>
                <a:latin typeface="Aptos"/>
              </a:defRPr>
            </a:pPr>
            <a:r>
              <a:t>SQL in Databricks was used as the technical control layer between raw transaction data and business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520440" cy="2331720"/>
          </a:xfrm>
          <a:prstGeom prst="roundRect">
            <a:avLst/>
          </a:prstGeom>
          <a:solidFill>
            <a:srgbClr val="1B2430"/>
          </a:solidFill>
          <a:ln>
            <a:solidFill>
              <a:srgbClr val="3C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76479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EC8BE"/>
                </a:solidFill>
                <a:latin typeface="Aptos"/>
              </a:defRPr>
            </a:pPr>
            <a:r>
              <a:t>DATA QUALITY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4884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FFFFFF"/>
                </a:solidFill>
                <a:latin typeface="Aptos"/>
              </a:defRPr>
            </a:pPr>
            <a:r>
              <a:t>SELECT</a:t>
            </a:r>
            <a:br/>
            <a:r>
              <a:t>  COUNT(*) AS rows,</a:t>
            </a:r>
            <a:br/>
            <a:r>
              <a:t>  COUNT(DISTINCT transaction_date) AS dates,</a:t>
            </a:r>
            <a:br/>
            <a:r>
              <a:t>  COUNT(DISTINCT product_detail) AS products</a:t>
            </a:r>
            <a:br/>
            <a:r>
              <a:t>FROM sales;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520440" cy="2331720"/>
          </a:xfrm>
          <a:prstGeom prst="roundRect">
            <a:avLst/>
          </a:prstGeom>
          <a:solidFill>
            <a:srgbClr val="1B2430"/>
          </a:solidFill>
          <a:ln>
            <a:solidFill>
              <a:srgbClr val="3C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76479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EC8BE"/>
                </a:solidFill>
                <a:latin typeface="Aptos"/>
              </a:defRPr>
            </a:pPr>
            <a:r>
              <a:t>REVENUE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4884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FFFFFF"/>
                </a:solidFill>
                <a:latin typeface="Aptos"/>
              </a:defRPr>
            </a:pPr>
            <a:r>
              <a:t>SELECT</a:t>
            </a:r>
            <a:br/>
            <a:r>
              <a:t>  Month_name,</a:t>
            </a:r>
            <a:br/>
            <a:r>
              <a:t>  SUM(total_sales_revenue) AS revenue</a:t>
            </a:r>
            <a:br/>
            <a:r>
              <a:t>FROM sales</a:t>
            </a:r>
            <a:br/>
            <a:r>
              <a:t>GROUP BY Month_name</a:t>
            </a:r>
            <a:br/>
            <a:r>
              <a:t>ORDER BY MIN(transaction_date);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600200"/>
            <a:ext cx="3520440" cy="2331720"/>
          </a:xfrm>
          <a:prstGeom prst="roundRect">
            <a:avLst/>
          </a:prstGeom>
          <a:solidFill>
            <a:srgbClr val="1B2430"/>
          </a:solidFill>
          <a:ln>
            <a:solidFill>
              <a:srgbClr val="3C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9912" y="176479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EC8BE"/>
                </a:solidFill>
                <a:latin typeface="Aptos"/>
              </a:defRPr>
            </a:pPr>
            <a:r>
              <a:t>BUSINESS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14884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FFFFFF"/>
                </a:solidFill>
                <a:latin typeface="Aptos"/>
              </a:defRPr>
            </a:pPr>
            <a:r>
              <a:t>SELECT</a:t>
            </a:r>
            <a:br/>
            <a:r>
              <a:t>  store_location,</a:t>
            </a:r>
            <a:br/>
            <a:r>
              <a:t>  product_category,</a:t>
            </a:r>
            <a:br/>
            <a:r>
              <a:t>  SUM(total_sales_revenue) AS revenue</a:t>
            </a:r>
            <a:br/>
            <a:r>
              <a:t>FROM sales</a:t>
            </a:r>
            <a:br/>
            <a:r>
              <a:t>GROUP BY store_location, product_category;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343400"/>
            <a:ext cx="10972800" cy="1417320"/>
          </a:xfrm>
          <a:prstGeom prst="roundRect">
            <a:avLst/>
          </a:prstGeom>
          <a:solidFill>
            <a:srgbClr val="F9FBFD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507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45B"/>
                </a:solidFill>
                <a:latin typeface="Aptos"/>
              </a:defRPr>
            </a:pPr>
            <a:r>
              <a:t>Technical-to-business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103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Inspection reduces the risk of presenting incorrect, incomplete or inconsistent data to decision-makers.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SQL aggregation creates consistent KPI definitions that can be reused in Excel, Power BI and executive reporting.</a:t>
            </a:r>
          </a:p>
          <a:p>
            <a:pPr>
              <a:spcAft>
                <a:spcPts val="800"/>
              </a:spcAft>
              <a:defRPr sz="1100">
                <a:solidFill>
                  <a:srgbClr val="232B34"/>
                </a:solidFill>
                <a:latin typeface="Aptos"/>
              </a:defRPr>
            </a:pPr>
            <a:r>
              <a:t>• This establishes a repeatable path from raw data → validated dataset → insight → decision.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4"/>
                </a:solidFill>
                <a:latin typeface="Aptos"/>
              </a:defRPr>
            </a:pPr>
            <a:r>
              <a:t>Technical workflow: POS → ETL → Databricks SQL → analysis dataset → dashboard / executive reporting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CEO Dashboard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D7EB"/>
                </a:solidFill>
                <a:latin typeface="Aptos"/>
              </a:defRPr>
            </a:pPr>
            <a:r>
              <a:t>ONE-PAGE MANAGEMENT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868680"/>
            <a:ext cx="20574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868680"/>
            <a:ext cx="64008" cy="1051560"/>
          </a:xfrm>
          <a:prstGeom prst="rect">
            <a:avLst/>
          </a:prstGeom>
          <a:solidFill>
            <a:srgbClr val="2C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03327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B6774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34416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45B"/>
                </a:solidFill>
                <a:latin typeface="Aptos"/>
              </a:defRPr>
            </a:pPr>
            <a:r>
              <a:t>$698.8K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868680"/>
            <a:ext cx="20574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97480" y="868680"/>
            <a:ext cx="64008" cy="1051560"/>
          </a:xfrm>
          <a:prstGeom prst="rect">
            <a:avLst/>
          </a:prstGeom>
          <a:solidFill>
            <a:srgbClr val="1E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98648" y="103327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B6774"/>
                </a:solidFill>
                <a:latin typeface="Aptos"/>
              </a:defRPr>
            </a:pPr>
            <a:r>
              <a:t>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134416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45B"/>
                </a:solidFill>
                <a:latin typeface="Aptos"/>
              </a:defRPr>
            </a:pPr>
            <a:r>
              <a:t>214.5K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868680"/>
            <a:ext cx="20574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92040" y="868680"/>
            <a:ext cx="64008" cy="1051560"/>
          </a:xfrm>
          <a:prstGeom prst="rect">
            <a:avLst/>
          </a:prstGeom>
          <a:solidFill>
            <a:srgbClr val="E0A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93207" y="103327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B6774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134416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45B"/>
                </a:solidFill>
                <a:latin typeface="Aptos"/>
              </a:defRPr>
            </a:pPr>
            <a:r>
              <a:t>149.1K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868680"/>
            <a:ext cx="20574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86600" y="868680"/>
            <a:ext cx="64008" cy="1051560"/>
          </a:xfrm>
          <a:prstGeom prst="rect">
            <a:avLst/>
          </a:prstGeom>
          <a:solidFill>
            <a:srgbClr val="E85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87768" y="103327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B6774"/>
                </a:solidFill>
                <a:latin typeface="Aptos"/>
              </a:defRPr>
            </a:pPr>
            <a:r>
              <a:t>STORES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7768" y="134416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45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868680"/>
            <a:ext cx="233172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81160" y="868680"/>
            <a:ext cx="64008" cy="1051560"/>
          </a:xfrm>
          <a:prstGeom prst="rect">
            <a:avLst/>
          </a:prstGeom>
          <a:solidFill>
            <a:srgbClr val="2CA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82328" y="1033271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5B6774"/>
                </a:solidFill>
                <a:latin typeface="Aptos"/>
              </a:defRPr>
            </a:pPr>
            <a:r>
              <a:t>JAN → JUN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1344168"/>
            <a:ext cx="2011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345B"/>
                </a:solidFill>
                <a:latin typeface="Aptos"/>
              </a:defRPr>
            </a:pPr>
            <a:r>
              <a:t>+103.8%</a:t>
            </a:r>
          </a:p>
        </p:txBody>
      </p:sp>
      <p:pic>
        <p:nvPicPr>
          <p:cNvPr id="26" name="Picture 25" descr="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5532120" cy="2512906"/>
          </a:xfrm>
          <a:prstGeom prst="rect">
            <a:avLst/>
          </a:prstGeom>
        </p:spPr>
      </p:pic>
      <p:pic>
        <p:nvPicPr>
          <p:cNvPr id="27" name="Picture 26" descr="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48840"/>
            <a:ext cx="5349240" cy="2801983"/>
          </a:xfrm>
          <a:prstGeom prst="rect">
            <a:avLst/>
          </a:prstGeom>
        </p:spPr>
      </p:pic>
      <p:pic>
        <p:nvPicPr>
          <p:cNvPr id="28" name="Picture 27" descr="produ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60520"/>
            <a:ext cx="5532120" cy="3164663"/>
          </a:xfrm>
          <a:prstGeom prst="rect">
            <a:avLst/>
          </a:prstGeom>
        </p:spPr>
      </p:pic>
      <p:pic>
        <p:nvPicPr>
          <p:cNvPr id="29" name="Picture 28" descr="m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224528"/>
            <a:ext cx="5349240" cy="245658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4"/>
                </a:solidFill>
                <a:latin typeface="Aptos"/>
              </a:defRPr>
            </a:pPr>
            <a:r>
              <a:t>Source: Data_Processing.xlsx | Analysis period: Jan–Jun 2023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CEO Takeaways &amp; 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3D7EB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143000"/>
            <a:ext cx="566928" cy="566928"/>
          </a:xfrm>
          <a:prstGeom prst="ellipse">
            <a:avLst/>
          </a:prstGeom>
          <a:solidFill>
            <a:srgbClr val="2C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1247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45B"/>
                </a:solidFill>
                <a:latin typeface="Aptos"/>
              </a:defRPr>
            </a:pPr>
            <a:r>
              <a:t>Sustain the growth momentum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9047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Investigate the operational and commercial drivers behind the strong May–June revenue acceleration.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2039112"/>
            <a:ext cx="9875520" cy="9144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85800" y="2377440"/>
            <a:ext cx="566928" cy="566928"/>
          </a:xfrm>
          <a:prstGeom prst="ellipse">
            <a:avLst/>
          </a:prstGeom>
          <a:solidFill>
            <a:srgbClr val="1E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54203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591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45B"/>
                </a:solidFill>
                <a:latin typeface="Aptos"/>
              </a:defRPr>
            </a:pPr>
            <a:r>
              <a:t>Optimise high-volume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2491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Protect availability of leading beverage products and assess pricing, margin and cross-sell opportunities.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273552"/>
            <a:ext cx="9875520" cy="9144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5800" y="3611880"/>
            <a:ext cx="566928" cy="566928"/>
          </a:xfrm>
          <a:prstGeom prst="ellipse">
            <a:avLst/>
          </a:prstGeom>
          <a:solidFill>
            <a:srgbClr val="E0A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77647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9359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45B"/>
                </a:solidFill>
                <a:latin typeface="Aptos"/>
              </a:defRPr>
            </a:pPr>
            <a:r>
              <a:t>Use demand patterns operationally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5935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Align staffing, inventory and promotions with strong weekday and morning demand.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4507992"/>
            <a:ext cx="9875520" cy="9144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85800" y="4846320"/>
            <a:ext cx="566928" cy="566928"/>
          </a:xfrm>
          <a:prstGeom prst="ellipse">
            <a:avLst/>
          </a:prstGeom>
          <a:solidFill>
            <a:srgbClr val="E85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01091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8280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45B"/>
                </a:solidFill>
                <a:latin typeface="Aptos"/>
              </a:defRPr>
            </a:pPr>
            <a:r>
              <a:t>Strengthen automated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93792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B34"/>
                </a:solidFill>
                <a:latin typeface="Aptos"/>
              </a:defRPr>
            </a:pPr>
            <a:r>
              <a:t>Move from periodic reporting toward a governed Power BI dashboard with refreshed KPIs and exception alerts.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5742432"/>
            <a:ext cx="9875520" cy="9144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61722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4345B"/>
                </a:solidFill>
                <a:latin typeface="Aptos"/>
              </a:defRPr>
            </a:pPr>
            <a:r>
              <a:t>Closing message: the analysis demonstrates a complete Data &amp; Business Analyst capability — from technical data inspection in Databricks SQL to executive-level decision support.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774"/>
                </a:solidFill>
                <a:latin typeface="Aptos"/>
              </a:defRPr>
            </a:pPr>
            <a:r>
              <a:t>Source: Data_Processing.xlsx | Analysis period: Jan–Jun 2023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1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EC6A6"/>
                </a:solidFill>
                <a:latin typeface="Aptos"/>
              </a:rPr>
              <a:t>COFFEE 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SALES &amp; BUSINESS</a:t>
            </a:r>
            <a:br/>
            <a:r>
              <a:rPr sz="3000" b="1">
                <a:solidFill>
                  <a:srgbClr val="FFFFFF"/>
                </a:solidFill>
                <a:latin typeface="Aptos Display"/>
              </a:rPr>
              <a:t>PERFORMANCE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154680"/>
            <a:ext cx="7132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D8C9"/>
                </a:solidFill>
                <a:latin typeface="Aptos"/>
              </a:rPr>
              <a:t>Turning transaction data into decisions that grow revenue, sales and customer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280160"/>
            <a:ext cx="2057400" cy="2194560"/>
          </a:xfrm>
          <a:prstGeom prst="roundRect">
            <a:avLst/>
          </a:prstGeom>
          <a:solidFill>
            <a:srgbClr val="5C3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0" y="685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EC6A6"/>
                </a:solidFill>
                <a:latin typeface="Georgia"/>
              </a:rPr>
              <a:t>~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6608" y="685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EC6A6"/>
                </a:solidFill>
                <a:latin typeface="Georgia"/>
              </a:rPr>
              <a:t>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0656" y="685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EC6A6"/>
                </a:solidFill>
                <a:latin typeface="Georgia"/>
              </a:rPr>
              <a:t>~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EC6A6"/>
                </a:solidFill>
                <a:latin typeface="Aptos"/>
              </a:rPr>
              <a:t>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JAN – JUN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4754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EC6A6"/>
                </a:solidFill>
                <a:latin typeface="Aptos"/>
              </a:rP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$698.8K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754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EC6A6"/>
                </a:solidFill>
                <a:latin typeface="Aptos"/>
              </a:rPr>
              <a:t>TECHNICAL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5029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Databricks SQL •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0807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4B19E"/>
                </a:solidFill>
                <a:latin typeface="Aptos"/>
              </a:rPr>
              <a:t>Prepared for CEO | Data &amp; Business Analyst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D1E16"/>
                </a:solidFill>
                <a:latin typeface="Aptos Display"/>
              </a:rPr>
              <a:t>How We Can Grow Revenue &amp;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35C"/>
                </a:solidFill>
                <a:latin typeface="Aptos"/>
              </a:rPr>
              <a:t>Recommended commercial actions based on the sales patterns in the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481328"/>
            <a:ext cx="502920" cy="502920"/>
          </a:xfrm>
          <a:prstGeom prst="ellipse">
            <a:avLst/>
          </a:prstGeom>
          <a:solidFill>
            <a:srgbClr val="D2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1848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990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1E16"/>
                </a:solidFill>
                <a:latin typeface="Aptos"/>
              </a:rPr>
              <a:t>Increase average order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64792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D2B28"/>
                </a:solidFill>
                <a:latin typeface="Aptos"/>
              </a:rPr>
              <a:t>Bundle coffee + pastry/snack offers and introduce checkout upselling.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46520" y="1481328"/>
            <a:ext cx="502920" cy="502920"/>
          </a:xfrm>
          <a:prstGeom prst="ellipse">
            <a:avLst/>
          </a:prstGeom>
          <a:solidFill>
            <a:srgbClr val="5C3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61848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3990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1E16"/>
                </a:solidFill>
                <a:latin typeface="Aptos"/>
              </a:rPr>
              <a:t>Grow morning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764792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D2B28"/>
                </a:solidFill>
                <a:latin typeface="Aptos"/>
              </a:rPr>
              <a:t>Use breakfast combos and commuter offers during the strongest morning demand window.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78892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3035808"/>
            <a:ext cx="502920" cy="502920"/>
          </a:xfrm>
          <a:prstGeom prst="ellipse">
            <a:avLst/>
          </a:prstGeom>
          <a:solidFill>
            <a:srgbClr val="3E7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17296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95351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1E16"/>
                </a:solidFill>
                <a:latin typeface="Aptos"/>
              </a:rPr>
              <a:t>Build repeat 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319272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D2B28"/>
                </a:solidFill>
                <a:latin typeface="Aptos"/>
              </a:rPr>
              <a:t>Introduce a loyalty/rewards programme to increase visit frequency.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78892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46520" y="3035808"/>
            <a:ext cx="502920" cy="502920"/>
          </a:xfrm>
          <a:prstGeom prst="ellipse">
            <a:avLst/>
          </a:prstGeom>
          <a:solidFill>
            <a:srgbClr val="B14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17296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95351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1E16"/>
                </a:solidFill>
                <a:latin typeface="Aptos"/>
              </a:rPr>
              <a:t>Target weaker periods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319272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D2B28"/>
                </a:solidFill>
                <a:latin typeface="Aptos"/>
              </a:rPr>
              <a:t>Test targeted Saturday/evening promotions instead of broad discounts.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3434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77240" y="4590288"/>
            <a:ext cx="502920" cy="502920"/>
          </a:xfrm>
          <a:prstGeom prst="ellipse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72744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50799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1E16"/>
                </a:solidFill>
                <a:latin typeface="Aptos"/>
              </a:rPr>
              <a:t>Protect top products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873752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D2B28"/>
                </a:solidFill>
                <a:latin typeface="Aptos"/>
              </a:rPr>
              <a:t>Use demand data to improve availability and inventory planning for high-volume items.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3434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46520" y="4590288"/>
            <a:ext cx="502920" cy="502920"/>
          </a:xfrm>
          <a:prstGeom prst="ellipse">
            <a:avLst/>
          </a:prstGeom>
          <a:solidFill>
            <a:srgbClr val="7A5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472744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50799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1E16"/>
                </a:solidFill>
                <a:latin typeface="Aptos"/>
              </a:rPr>
              <a:t>Expand digital sales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873752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D2B28"/>
                </a:solidFill>
                <a:latin typeface="Aptos"/>
              </a:rPr>
              <a:t>Promote pre-ordering, delivery and office/group coffee orders to create incremental demand.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9635C"/>
                </a:solidFill>
                <a:latin typeface="Aptos"/>
              </a:rPr>
              <a:t>Coffee Shop Sales Analytics • Data &amp; Business Analyst • Source: Data_Processing.xlsx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D1E16"/>
                </a:solidFill>
                <a:latin typeface="Aptos Display"/>
              </a:rPr>
              <a:t>CEO Growth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635C"/>
                </a:solidFill>
                <a:latin typeface="Aptos"/>
              </a:rPr>
              <a:t>Track these KPIs monthly to measure whether growth initiatives are actually working.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1325880"/>
          </a:xfrm>
          <a:prstGeom prst="rect">
            <a:avLst/>
          </a:prstGeom>
          <a:solidFill>
            <a:srgbClr val="1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39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635C"/>
                </a:solidFill>
                <a:latin typeface="Aptos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1E16"/>
                </a:solidFill>
                <a:latin typeface="Aptos"/>
              </a:rPr>
              <a:t>$698,812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>
                <a:solidFill>
                  <a:srgbClr val="69635C"/>
                </a:solidFill>
                <a:latin typeface="Aptos"/>
              </a:rPr>
              <a:t>Total sales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64008" cy="1325880"/>
          </a:xfrm>
          <a:prstGeom prst="rect">
            <a:avLst/>
          </a:prstGeom>
          <a:solidFill>
            <a:srgbClr val="3E7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39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635C"/>
                </a:solidFill>
                <a:latin typeface="Aptos"/>
              </a:rPr>
              <a:t>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6479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1E16"/>
                </a:solidFill>
                <a:latin typeface="Aptos"/>
              </a:rPr>
              <a:t>149,116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>
                <a:solidFill>
                  <a:srgbClr val="69635C"/>
                </a:solidFill>
                <a:latin typeface="Aptos"/>
              </a:rPr>
              <a:t>Number of purchases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3258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80" y="1325880"/>
            <a:ext cx="64008" cy="1325880"/>
          </a:xfrm>
          <a:prstGeom prst="rect">
            <a:avLst/>
          </a:prstGeom>
          <a:solidFill>
            <a:srgbClr val="D2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463039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635C"/>
                </a:solidFill>
                <a:latin typeface="Aptos"/>
              </a:rPr>
              <a:t>Average order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76479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1E16"/>
                </a:solidFill>
                <a:latin typeface="Aptos"/>
              </a:rPr>
              <a:t>$4.69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402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>
                <a:solidFill>
                  <a:srgbClr val="69635C"/>
                </a:solidFill>
                <a:latin typeface="Aptos"/>
              </a:rPr>
              <a:t>Revenue ÷ transactions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546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3154680"/>
            <a:ext cx="64008" cy="1325880"/>
          </a:xfrm>
          <a:prstGeom prst="rect">
            <a:avLst/>
          </a:prstGeom>
          <a:solidFill>
            <a:srgbClr val="5C3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29184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635C"/>
                </a:solidFill>
                <a:latin typeface="Aptos"/>
              </a:rPr>
              <a:t>Units per transaction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9359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1E16"/>
                </a:solidFill>
                <a:latin typeface="Aptos"/>
              </a:rPr>
              <a:t>1.44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690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>
                <a:solidFill>
                  <a:srgbClr val="69635C"/>
                </a:solidFill>
                <a:latin typeface="Aptos"/>
              </a:rPr>
              <a:t>Units ÷ transactions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1546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154680"/>
            <a:ext cx="64008" cy="1325880"/>
          </a:xfrm>
          <a:prstGeom prst="rect">
            <a:avLst/>
          </a:prstGeom>
          <a:solidFill>
            <a:srgbClr val="7A5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329184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635C"/>
                </a:solidFill>
                <a:latin typeface="Aptos"/>
              </a:rPr>
              <a:t>Repeat customer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59359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1E16"/>
                </a:solidFill>
                <a:latin typeface="Aptos"/>
              </a:rPr>
              <a:t>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0690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>
                <a:solidFill>
                  <a:srgbClr val="69635C"/>
                </a:solidFill>
                <a:latin typeface="Aptos"/>
              </a:rPr>
              <a:t>Requires customer / loyalty 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31546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3880" y="3154680"/>
            <a:ext cx="64008" cy="1325880"/>
          </a:xfrm>
          <a:prstGeom prst="rect">
            <a:avLst/>
          </a:prstGeom>
          <a:solidFill>
            <a:srgbClr val="B14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66760" y="329184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9635C"/>
                </a:solidFill>
                <a:latin typeface="Aptos"/>
              </a:rPr>
              <a:t>Promotion uplift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593592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1E16"/>
                </a:solidFill>
                <a:latin typeface="Aptos"/>
              </a:rPr>
              <a:t>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0690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0">
                <a:solidFill>
                  <a:srgbClr val="69635C"/>
                </a:solidFill>
                <a:latin typeface="Aptos"/>
              </a:rPr>
              <a:t>Compare campaign vs baseline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349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D1E16"/>
                </a:solidFill>
                <a:latin typeface="Aptos"/>
              </a:rPr>
              <a:t>Recommended management approach: establish a monthly growth scorecard linking revenue, transaction volume, basket size and customer behaviour to each commercial initiative.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9635C"/>
                </a:solidFill>
                <a:latin typeface="Aptos"/>
              </a:rPr>
              <a:t>Coffee Shop Sales Analytics • Data &amp; Business Analyst • Source: Data_Processing.xlsx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1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E5D8"/>
                </a:solidFill>
                <a:latin typeface="Aptos"/>
              </a:rPr>
              <a:t>The business generated $698,812 in revenue across 3 stores during the analysis period, with positive momentum toward June and strong demand concentrated in core products.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3337560" cy="1965960"/>
          </a:xfrm>
          <a:prstGeom prst="roundRect">
            <a:avLst/>
          </a:prstGeom>
          <a:solidFill>
            <a:srgbClr val="5C3720"/>
          </a:solidFill>
          <a:ln>
            <a:solidFill>
              <a:srgbClr val="7E5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3035808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29D41"/>
                </a:solidFill>
                <a:latin typeface="Aptos"/>
              </a:rPr>
              <a:t>WHAT THE DATA TELLS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566160"/>
            <a:ext cx="2880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Revenue momentum is positive and the core product range is driving meaningful sales volume.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788920"/>
            <a:ext cx="3337560" cy="1965960"/>
          </a:xfrm>
          <a:prstGeom prst="roundRect">
            <a:avLst/>
          </a:prstGeom>
          <a:solidFill>
            <a:srgbClr val="5C3720"/>
          </a:solidFill>
          <a:ln>
            <a:solidFill>
              <a:srgbClr val="7E5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3035808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E774B"/>
                </a:solidFill>
                <a:latin typeface="Aptos"/>
              </a:rPr>
              <a:t>WHAT THE BUSINESS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566160"/>
            <a:ext cx="2880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Grow basket size, strengthen loyalty, target weaker trading periods and protect high-volume products.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788920"/>
            <a:ext cx="3337560" cy="1965960"/>
          </a:xfrm>
          <a:prstGeom prst="roundRect">
            <a:avLst/>
          </a:prstGeom>
          <a:solidFill>
            <a:srgbClr val="5C3720"/>
          </a:solidFill>
          <a:ln>
            <a:solidFill>
              <a:srgbClr val="7E5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3035808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EC6A6"/>
                </a:solidFill>
                <a:latin typeface="Aptos"/>
              </a:rPr>
              <a:t>WHAT THE ANALYST ENABLES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566160"/>
            <a:ext cx="2880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Databricks SQL validates and processes the data; analytics converts it into insight and dashboards convert insight into 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7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FINAL MESSAGE: The opportunity is not only to report what happened — it is to use data to decide what the coffee business should do next.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9635C"/>
                </a:solidFill>
                <a:latin typeface="Aptos"/>
              </a:rPr>
              <a:t>Coffee Shop Sales Analytics • Data &amp; Business Analyst • Source: Data_Processing.xlsx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4</TotalTime>
  <Words>1372</Words>
  <Application>Microsoft Office PowerPoint</Application>
  <PresentationFormat>Widescreen</PresentationFormat>
  <Paragraphs>192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Georgia</vt:lpstr>
      <vt:lpstr>Oswald SemiBold</vt:lpstr>
      <vt:lpstr>Univers Condensed Light</vt:lpstr>
      <vt:lpstr>Orange Experience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Khonani Masindi</cp:lastModifiedBy>
  <cp:revision>2</cp:revision>
  <dcterms:created xsi:type="dcterms:W3CDTF">2013-01-27T09:14:16Z</dcterms:created>
  <dcterms:modified xsi:type="dcterms:W3CDTF">2026-10-05T16:11:36Z</dcterms:modified>
  <cp:category/>
</cp:coreProperties>
</file>